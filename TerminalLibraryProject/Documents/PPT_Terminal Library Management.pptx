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20"/>
  </p:notesMasterIdLst>
  <p:handoutMasterIdLst>
    <p:handoutMasterId r:id="rId21"/>
  </p:handoutMasterIdLst>
  <p:sldIdLst>
    <p:sldId id="256" r:id="rId5"/>
    <p:sldId id="271" r:id="rId6"/>
    <p:sldId id="283" r:id="rId7"/>
    <p:sldId id="293" r:id="rId8"/>
    <p:sldId id="294" r:id="rId9"/>
    <p:sldId id="279" r:id="rId10"/>
    <p:sldId id="287" r:id="rId11"/>
    <p:sldId id="281" r:id="rId12"/>
    <p:sldId id="288" r:id="rId13"/>
    <p:sldId id="289" r:id="rId14"/>
    <p:sldId id="285" r:id="rId15"/>
    <p:sldId id="290" r:id="rId16"/>
    <p:sldId id="291" r:id="rId17"/>
    <p:sldId id="292" r:id="rId18"/>
    <p:sldId id="29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3"/>
            <p14:sldId id="293"/>
            <p14:sldId id="294"/>
            <p14:sldId id="279"/>
            <p14:sldId id="287"/>
            <p14:sldId id="281"/>
            <p14:sldId id="288"/>
            <p14:sldId id="289"/>
            <p14:sldId id="285"/>
            <p14:sldId id="290"/>
            <p14:sldId id="291"/>
            <p14:sldId id="292"/>
            <p14:sldId id="295"/>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42" autoAdjust="0"/>
  </p:normalViewPr>
  <p:slideViewPr>
    <p:cSldViewPr snapToGrid="0">
      <p:cViewPr varScale="1">
        <p:scale>
          <a:sx n="86" d="100"/>
          <a:sy n="86" d="100"/>
        </p:scale>
        <p:origin x="562"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287B55-88B9-4412-BE45-8AAFAE2D44B3}" type="doc">
      <dgm:prSet loTypeId="urn:microsoft.com/office/officeart/2005/8/layout/vList2" loCatId="list" qsTypeId="urn:microsoft.com/office/officeart/2005/8/quickstyle/simple1" qsCatId="simple" csTypeId="urn:microsoft.com/office/officeart/2005/8/colors/accent3_1" csCatId="accent3" phldr="1"/>
      <dgm:spPr/>
      <dgm:t>
        <a:bodyPr/>
        <a:lstStyle/>
        <a:p>
          <a:endParaRPr lang="en-IN"/>
        </a:p>
      </dgm:t>
    </dgm:pt>
    <dgm:pt modelId="{365FEB1B-4D39-4243-8433-82763535126D}">
      <dgm:prSet/>
      <dgm:spPr/>
      <dgm:t>
        <a:bodyPr/>
        <a:lstStyle/>
        <a:p>
          <a:r>
            <a:rPr lang="en-US" dirty="0"/>
            <a:t>Some keywords cannot be used as login ID / Password </a:t>
          </a:r>
        </a:p>
        <a:p>
          <a:r>
            <a:rPr lang="en-US" dirty="0"/>
            <a:t>Those listed in ['F$P$', 'admin$', 'EXIT$, LOGOUT$, MENU$, L$]</a:t>
          </a:r>
          <a:endParaRPr lang="en-IN" dirty="0"/>
        </a:p>
      </dgm:t>
    </dgm:pt>
    <dgm:pt modelId="{8672F73F-00F5-41CA-99D9-46A103A4B9EB}" type="parTrans" cxnId="{F02F97E6-114D-42B5-85F3-1217A28551D6}">
      <dgm:prSet/>
      <dgm:spPr/>
      <dgm:t>
        <a:bodyPr/>
        <a:lstStyle/>
        <a:p>
          <a:endParaRPr lang="en-IN"/>
        </a:p>
      </dgm:t>
    </dgm:pt>
    <dgm:pt modelId="{B6E8F0F2-F86E-40AF-A023-AD7A96138FFB}" type="sibTrans" cxnId="{F02F97E6-114D-42B5-85F3-1217A28551D6}">
      <dgm:prSet/>
      <dgm:spPr/>
      <dgm:t>
        <a:bodyPr/>
        <a:lstStyle/>
        <a:p>
          <a:endParaRPr lang="en-IN"/>
        </a:p>
      </dgm:t>
    </dgm:pt>
    <dgm:pt modelId="{054153CB-A5E4-4C74-A684-27A0F7D78363}">
      <dgm:prSet/>
      <dgm:spPr/>
      <dgm:t>
        <a:bodyPr/>
        <a:lstStyle/>
        <a:p>
          <a:r>
            <a:rPr lang="en-US" dirty="0"/>
            <a:t>All users' Registration ID starts with '</a:t>
          </a:r>
          <a:r>
            <a:rPr lang="en-US" b="1" dirty="0"/>
            <a:t>U</a:t>
          </a:r>
          <a:r>
            <a:rPr lang="en-US" dirty="0"/>
            <a:t>' followed by 9 characters</a:t>
          </a:r>
          <a:endParaRPr lang="en-IN" dirty="0"/>
        </a:p>
      </dgm:t>
    </dgm:pt>
    <dgm:pt modelId="{E2677D5B-EFC8-4A10-B902-CA97AA3EDA4B}" type="parTrans" cxnId="{0E9F6838-0B8A-4CD7-8180-B0B475BD94CE}">
      <dgm:prSet/>
      <dgm:spPr/>
      <dgm:t>
        <a:bodyPr/>
        <a:lstStyle/>
        <a:p>
          <a:endParaRPr lang="en-IN"/>
        </a:p>
      </dgm:t>
    </dgm:pt>
    <dgm:pt modelId="{D9573E83-B81C-45A9-B983-306F9693C78A}" type="sibTrans" cxnId="{0E9F6838-0B8A-4CD7-8180-B0B475BD94CE}">
      <dgm:prSet/>
      <dgm:spPr/>
      <dgm:t>
        <a:bodyPr/>
        <a:lstStyle/>
        <a:p>
          <a:endParaRPr lang="en-IN"/>
        </a:p>
      </dgm:t>
    </dgm:pt>
    <dgm:pt modelId="{94E6E96C-2811-4B77-B537-5D1B0F0E73E6}">
      <dgm:prSet/>
      <dgm:spPr/>
      <dgm:t>
        <a:bodyPr/>
        <a:lstStyle/>
        <a:p>
          <a:r>
            <a:rPr lang="en-US" dirty="0"/>
            <a:t>All librarians' Registration ID starts with '</a:t>
          </a:r>
          <a:r>
            <a:rPr lang="en-US" b="1" dirty="0"/>
            <a:t>L</a:t>
          </a:r>
          <a:r>
            <a:rPr lang="en-US" dirty="0"/>
            <a:t>' followed by 9 characters</a:t>
          </a:r>
          <a:endParaRPr lang="en-IN" dirty="0"/>
        </a:p>
      </dgm:t>
    </dgm:pt>
    <dgm:pt modelId="{9B5E94F5-E41F-4DFE-9BC2-34F2A8C0EBBA}" type="parTrans" cxnId="{33AAD34D-39CA-4D2D-8308-6E0BD2B42334}">
      <dgm:prSet/>
      <dgm:spPr/>
      <dgm:t>
        <a:bodyPr/>
        <a:lstStyle/>
        <a:p>
          <a:endParaRPr lang="en-IN"/>
        </a:p>
      </dgm:t>
    </dgm:pt>
    <dgm:pt modelId="{33944DBD-A0DD-4168-BD1D-F80D83538D5E}" type="sibTrans" cxnId="{33AAD34D-39CA-4D2D-8308-6E0BD2B42334}">
      <dgm:prSet/>
      <dgm:spPr/>
      <dgm:t>
        <a:bodyPr/>
        <a:lstStyle/>
        <a:p>
          <a:endParaRPr lang="en-IN"/>
        </a:p>
      </dgm:t>
    </dgm:pt>
    <dgm:pt modelId="{D64E3C4A-A322-46AA-A61C-B7151D2CF9CD}">
      <dgm:prSet/>
      <dgm:spPr/>
      <dgm:t>
        <a:bodyPr/>
        <a:lstStyle/>
        <a:p>
          <a:r>
            <a:rPr lang="en-US" dirty="0"/>
            <a:t>Registration ID and the Book Code are generated by fetching the last record from the table adding 1 to the integer part and adding a suffix of '</a:t>
          </a:r>
          <a:r>
            <a:rPr lang="en-US" b="1" dirty="0"/>
            <a:t>U</a:t>
          </a:r>
          <a:r>
            <a:rPr lang="en-US" dirty="0"/>
            <a:t>’ or ‘</a:t>
          </a:r>
          <a:r>
            <a:rPr lang="en-US" b="1" dirty="0"/>
            <a:t>L</a:t>
          </a:r>
          <a:r>
            <a:rPr lang="en-US" dirty="0"/>
            <a:t>’ or ‘</a:t>
          </a:r>
          <a:r>
            <a:rPr lang="en-US" b="1" dirty="0"/>
            <a:t>B</a:t>
          </a:r>
          <a:r>
            <a:rPr lang="en-US" dirty="0"/>
            <a:t>’ based on Users table or Librarians table or Books table respectively.</a:t>
          </a:r>
          <a:endParaRPr lang="en-IN" dirty="0"/>
        </a:p>
      </dgm:t>
    </dgm:pt>
    <dgm:pt modelId="{6D008881-7B5D-4297-92D0-504F5FF29DD7}" type="parTrans" cxnId="{5CA1B600-1B86-43AC-BF1A-7316B875EA8D}">
      <dgm:prSet/>
      <dgm:spPr/>
      <dgm:t>
        <a:bodyPr/>
        <a:lstStyle/>
        <a:p>
          <a:endParaRPr lang="en-IN"/>
        </a:p>
      </dgm:t>
    </dgm:pt>
    <dgm:pt modelId="{1CF992A2-E3BC-43C1-A0B3-0CD63CD6F3A8}" type="sibTrans" cxnId="{5CA1B600-1B86-43AC-BF1A-7316B875EA8D}">
      <dgm:prSet/>
      <dgm:spPr/>
      <dgm:t>
        <a:bodyPr/>
        <a:lstStyle/>
        <a:p>
          <a:endParaRPr lang="en-IN"/>
        </a:p>
      </dgm:t>
    </dgm:pt>
    <dgm:pt modelId="{261B50B1-F8DC-4F78-AE5A-0538E70CA848}">
      <dgm:prSet/>
      <dgm:spPr/>
      <dgm:t>
        <a:bodyPr/>
        <a:lstStyle/>
        <a:p>
          <a:pPr algn="just"/>
          <a:r>
            <a:rPr lang="en-US" dirty="0"/>
            <a:t>All Book code starts with ‘</a:t>
          </a:r>
          <a:r>
            <a:rPr lang="en-US" b="1" dirty="0"/>
            <a:t>B</a:t>
          </a:r>
          <a:r>
            <a:rPr lang="en-US" dirty="0"/>
            <a:t>' followed by 9 characters</a:t>
          </a:r>
          <a:endParaRPr lang="en-IN" dirty="0"/>
        </a:p>
      </dgm:t>
    </dgm:pt>
    <dgm:pt modelId="{22CF80C1-31EF-4990-8951-D8711BFA0B06}" type="parTrans" cxnId="{46A5C908-D5E5-446D-9A60-D32DB0F94083}">
      <dgm:prSet/>
      <dgm:spPr/>
      <dgm:t>
        <a:bodyPr/>
        <a:lstStyle/>
        <a:p>
          <a:endParaRPr lang="en-IN"/>
        </a:p>
      </dgm:t>
    </dgm:pt>
    <dgm:pt modelId="{58A74562-A990-41D9-8940-2A68FB08A331}" type="sibTrans" cxnId="{46A5C908-D5E5-446D-9A60-D32DB0F94083}">
      <dgm:prSet/>
      <dgm:spPr/>
      <dgm:t>
        <a:bodyPr/>
        <a:lstStyle/>
        <a:p>
          <a:endParaRPr lang="en-IN"/>
        </a:p>
      </dgm:t>
    </dgm:pt>
    <dgm:pt modelId="{8B3FDBB1-0E76-46A9-B3B1-CB3372387684}" type="pres">
      <dgm:prSet presAssocID="{BD287B55-88B9-4412-BE45-8AAFAE2D44B3}" presName="linear" presStyleCnt="0">
        <dgm:presLayoutVars>
          <dgm:animLvl val="lvl"/>
          <dgm:resizeHandles val="exact"/>
        </dgm:presLayoutVars>
      </dgm:prSet>
      <dgm:spPr/>
    </dgm:pt>
    <dgm:pt modelId="{E88BDA5E-1EA4-4B5D-935E-AFA5DAEC003A}" type="pres">
      <dgm:prSet presAssocID="{365FEB1B-4D39-4243-8433-82763535126D}" presName="parentText" presStyleLbl="node1" presStyleIdx="0" presStyleCnt="5">
        <dgm:presLayoutVars>
          <dgm:chMax val="0"/>
          <dgm:bulletEnabled val="1"/>
        </dgm:presLayoutVars>
      </dgm:prSet>
      <dgm:spPr/>
    </dgm:pt>
    <dgm:pt modelId="{79167F0A-1E56-4579-84F8-67B660819788}" type="pres">
      <dgm:prSet presAssocID="{B6E8F0F2-F86E-40AF-A023-AD7A96138FFB}" presName="spacer" presStyleCnt="0"/>
      <dgm:spPr/>
    </dgm:pt>
    <dgm:pt modelId="{F8BC4EE1-8756-422A-98E5-E4482E0450A5}" type="pres">
      <dgm:prSet presAssocID="{054153CB-A5E4-4C74-A684-27A0F7D78363}" presName="parentText" presStyleLbl="node1" presStyleIdx="1" presStyleCnt="5">
        <dgm:presLayoutVars>
          <dgm:chMax val="0"/>
          <dgm:bulletEnabled val="1"/>
        </dgm:presLayoutVars>
      </dgm:prSet>
      <dgm:spPr/>
    </dgm:pt>
    <dgm:pt modelId="{DF4C92F7-1284-40E7-8FA4-FC91F751AB48}" type="pres">
      <dgm:prSet presAssocID="{D9573E83-B81C-45A9-B983-306F9693C78A}" presName="spacer" presStyleCnt="0"/>
      <dgm:spPr/>
    </dgm:pt>
    <dgm:pt modelId="{F416B8AD-F6AC-4B75-A71A-5FB810C34DD0}" type="pres">
      <dgm:prSet presAssocID="{94E6E96C-2811-4B77-B537-5D1B0F0E73E6}" presName="parentText" presStyleLbl="node1" presStyleIdx="2" presStyleCnt="5">
        <dgm:presLayoutVars>
          <dgm:chMax val="0"/>
          <dgm:bulletEnabled val="1"/>
        </dgm:presLayoutVars>
      </dgm:prSet>
      <dgm:spPr/>
    </dgm:pt>
    <dgm:pt modelId="{D6F6D10F-F9BA-45DB-A40C-5E2C6FEFFE18}" type="pres">
      <dgm:prSet presAssocID="{33944DBD-A0DD-4168-BD1D-F80D83538D5E}" presName="spacer" presStyleCnt="0"/>
      <dgm:spPr/>
    </dgm:pt>
    <dgm:pt modelId="{87DE69A7-052E-4657-991D-D202EC9EA4D3}" type="pres">
      <dgm:prSet presAssocID="{261B50B1-F8DC-4F78-AE5A-0538E70CA848}" presName="parentText" presStyleLbl="node1" presStyleIdx="3" presStyleCnt="5">
        <dgm:presLayoutVars>
          <dgm:chMax val="0"/>
          <dgm:bulletEnabled val="1"/>
        </dgm:presLayoutVars>
      </dgm:prSet>
      <dgm:spPr/>
    </dgm:pt>
    <dgm:pt modelId="{EC2771B4-F8D5-48E5-AC78-07AD17C810B5}" type="pres">
      <dgm:prSet presAssocID="{58A74562-A990-41D9-8940-2A68FB08A331}" presName="spacer" presStyleCnt="0"/>
      <dgm:spPr/>
    </dgm:pt>
    <dgm:pt modelId="{E1725B22-43A3-495B-9077-BA6139D490BD}" type="pres">
      <dgm:prSet presAssocID="{D64E3C4A-A322-46AA-A61C-B7151D2CF9CD}" presName="parentText" presStyleLbl="node1" presStyleIdx="4" presStyleCnt="5" custScaleY="153707">
        <dgm:presLayoutVars>
          <dgm:chMax val="0"/>
          <dgm:bulletEnabled val="1"/>
        </dgm:presLayoutVars>
      </dgm:prSet>
      <dgm:spPr/>
    </dgm:pt>
  </dgm:ptLst>
  <dgm:cxnLst>
    <dgm:cxn modelId="{5CA1B600-1B86-43AC-BF1A-7316B875EA8D}" srcId="{BD287B55-88B9-4412-BE45-8AAFAE2D44B3}" destId="{D64E3C4A-A322-46AA-A61C-B7151D2CF9CD}" srcOrd="4" destOrd="0" parTransId="{6D008881-7B5D-4297-92D0-504F5FF29DD7}" sibTransId="{1CF992A2-E3BC-43C1-A0B3-0CD63CD6F3A8}"/>
    <dgm:cxn modelId="{46A5C908-D5E5-446D-9A60-D32DB0F94083}" srcId="{BD287B55-88B9-4412-BE45-8AAFAE2D44B3}" destId="{261B50B1-F8DC-4F78-AE5A-0538E70CA848}" srcOrd="3" destOrd="0" parTransId="{22CF80C1-31EF-4990-8951-D8711BFA0B06}" sibTransId="{58A74562-A990-41D9-8940-2A68FB08A331}"/>
    <dgm:cxn modelId="{84B88F1C-70F9-43DB-9347-374AB58DF981}" type="presOf" srcId="{261B50B1-F8DC-4F78-AE5A-0538E70CA848}" destId="{87DE69A7-052E-4657-991D-D202EC9EA4D3}" srcOrd="0" destOrd="0" presId="urn:microsoft.com/office/officeart/2005/8/layout/vList2"/>
    <dgm:cxn modelId="{9B097029-BFAC-46C1-BE40-47E68E095026}" type="presOf" srcId="{94E6E96C-2811-4B77-B537-5D1B0F0E73E6}" destId="{F416B8AD-F6AC-4B75-A71A-5FB810C34DD0}" srcOrd="0" destOrd="0" presId="urn:microsoft.com/office/officeart/2005/8/layout/vList2"/>
    <dgm:cxn modelId="{71A42435-D08B-427C-83D7-B570A45537BF}" type="presOf" srcId="{054153CB-A5E4-4C74-A684-27A0F7D78363}" destId="{F8BC4EE1-8756-422A-98E5-E4482E0450A5}" srcOrd="0" destOrd="0" presId="urn:microsoft.com/office/officeart/2005/8/layout/vList2"/>
    <dgm:cxn modelId="{0E9F6838-0B8A-4CD7-8180-B0B475BD94CE}" srcId="{BD287B55-88B9-4412-BE45-8AAFAE2D44B3}" destId="{054153CB-A5E4-4C74-A684-27A0F7D78363}" srcOrd="1" destOrd="0" parTransId="{E2677D5B-EFC8-4A10-B902-CA97AA3EDA4B}" sibTransId="{D9573E83-B81C-45A9-B983-306F9693C78A}"/>
    <dgm:cxn modelId="{33AAD34D-39CA-4D2D-8308-6E0BD2B42334}" srcId="{BD287B55-88B9-4412-BE45-8AAFAE2D44B3}" destId="{94E6E96C-2811-4B77-B537-5D1B0F0E73E6}" srcOrd="2" destOrd="0" parTransId="{9B5E94F5-E41F-4DFE-9BC2-34F2A8C0EBBA}" sibTransId="{33944DBD-A0DD-4168-BD1D-F80D83538D5E}"/>
    <dgm:cxn modelId="{7FDA8C95-EA74-4202-A577-3693A120A694}" type="presOf" srcId="{BD287B55-88B9-4412-BE45-8AAFAE2D44B3}" destId="{8B3FDBB1-0E76-46A9-B3B1-CB3372387684}" srcOrd="0" destOrd="0" presId="urn:microsoft.com/office/officeart/2005/8/layout/vList2"/>
    <dgm:cxn modelId="{21E134C2-4193-4550-B239-F4A7853D1059}" type="presOf" srcId="{365FEB1B-4D39-4243-8433-82763535126D}" destId="{E88BDA5E-1EA4-4B5D-935E-AFA5DAEC003A}" srcOrd="0" destOrd="0" presId="urn:microsoft.com/office/officeart/2005/8/layout/vList2"/>
    <dgm:cxn modelId="{B073F9CC-1848-4E30-B6C6-AEADD70E4E95}" type="presOf" srcId="{D64E3C4A-A322-46AA-A61C-B7151D2CF9CD}" destId="{E1725B22-43A3-495B-9077-BA6139D490BD}" srcOrd="0" destOrd="0" presId="urn:microsoft.com/office/officeart/2005/8/layout/vList2"/>
    <dgm:cxn modelId="{F02F97E6-114D-42B5-85F3-1217A28551D6}" srcId="{BD287B55-88B9-4412-BE45-8AAFAE2D44B3}" destId="{365FEB1B-4D39-4243-8433-82763535126D}" srcOrd="0" destOrd="0" parTransId="{8672F73F-00F5-41CA-99D9-46A103A4B9EB}" sibTransId="{B6E8F0F2-F86E-40AF-A023-AD7A96138FFB}"/>
    <dgm:cxn modelId="{11531918-C23C-43D0-A2C2-F0A0AEAD3FAE}" type="presParOf" srcId="{8B3FDBB1-0E76-46A9-B3B1-CB3372387684}" destId="{E88BDA5E-1EA4-4B5D-935E-AFA5DAEC003A}" srcOrd="0" destOrd="0" presId="urn:microsoft.com/office/officeart/2005/8/layout/vList2"/>
    <dgm:cxn modelId="{7EA46DF9-0874-426E-8512-D9517E389DC0}" type="presParOf" srcId="{8B3FDBB1-0E76-46A9-B3B1-CB3372387684}" destId="{79167F0A-1E56-4579-84F8-67B660819788}" srcOrd="1" destOrd="0" presId="urn:microsoft.com/office/officeart/2005/8/layout/vList2"/>
    <dgm:cxn modelId="{B175A162-185D-44D1-99C7-3FA5FA651F6B}" type="presParOf" srcId="{8B3FDBB1-0E76-46A9-B3B1-CB3372387684}" destId="{F8BC4EE1-8756-422A-98E5-E4482E0450A5}" srcOrd="2" destOrd="0" presId="urn:microsoft.com/office/officeart/2005/8/layout/vList2"/>
    <dgm:cxn modelId="{9464B228-6B87-4F2B-BA08-DCB5F0A0B4CD}" type="presParOf" srcId="{8B3FDBB1-0E76-46A9-B3B1-CB3372387684}" destId="{DF4C92F7-1284-40E7-8FA4-FC91F751AB48}" srcOrd="3" destOrd="0" presId="urn:microsoft.com/office/officeart/2005/8/layout/vList2"/>
    <dgm:cxn modelId="{3B0389D8-CB46-42BF-A8F9-6B1DB4076215}" type="presParOf" srcId="{8B3FDBB1-0E76-46A9-B3B1-CB3372387684}" destId="{F416B8AD-F6AC-4B75-A71A-5FB810C34DD0}" srcOrd="4" destOrd="0" presId="urn:microsoft.com/office/officeart/2005/8/layout/vList2"/>
    <dgm:cxn modelId="{1AAE3C48-6010-43C8-86F2-175872C601B3}" type="presParOf" srcId="{8B3FDBB1-0E76-46A9-B3B1-CB3372387684}" destId="{D6F6D10F-F9BA-45DB-A40C-5E2C6FEFFE18}" srcOrd="5" destOrd="0" presId="urn:microsoft.com/office/officeart/2005/8/layout/vList2"/>
    <dgm:cxn modelId="{637AA515-821F-4D02-A5DE-D839335AF803}" type="presParOf" srcId="{8B3FDBB1-0E76-46A9-B3B1-CB3372387684}" destId="{87DE69A7-052E-4657-991D-D202EC9EA4D3}" srcOrd="6" destOrd="0" presId="urn:microsoft.com/office/officeart/2005/8/layout/vList2"/>
    <dgm:cxn modelId="{47ACCF2A-618C-4D48-B60F-F5B4EF14367D}" type="presParOf" srcId="{8B3FDBB1-0E76-46A9-B3B1-CB3372387684}" destId="{EC2771B4-F8D5-48E5-AC78-07AD17C810B5}" srcOrd="7" destOrd="0" presId="urn:microsoft.com/office/officeart/2005/8/layout/vList2"/>
    <dgm:cxn modelId="{87E31D85-52A2-4F39-B5A8-F2C3E712FB4E}" type="presParOf" srcId="{8B3FDBB1-0E76-46A9-B3B1-CB3372387684}" destId="{E1725B22-43A3-495B-9077-BA6139D490B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287B55-88B9-4412-BE45-8AAFAE2D44B3}" type="doc">
      <dgm:prSet loTypeId="urn:microsoft.com/office/officeart/2005/8/layout/vList2" loCatId="list" qsTypeId="urn:microsoft.com/office/officeart/2005/8/quickstyle/simple1" qsCatId="simple" csTypeId="urn:microsoft.com/office/officeart/2005/8/colors/accent3_1" csCatId="accent3" phldr="1"/>
      <dgm:spPr/>
      <dgm:t>
        <a:bodyPr/>
        <a:lstStyle/>
        <a:p>
          <a:endParaRPr lang="en-IN"/>
        </a:p>
      </dgm:t>
    </dgm:pt>
    <dgm:pt modelId="{365FEB1B-4D39-4243-8433-82763535126D}">
      <dgm:prSet custT="1"/>
      <dgm:spPr/>
      <dgm:t>
        <a:bodyPr/>
        <a:lstStyle/>
        <a:p>
          <a:pPr>
            <a:lnSpc>
              <a:spcPct val="100000"/>
            </a:lnSpc>
          </a:pPr>
          <a:r>
            <a:rPr lang="en-US" sz="1400" b="0" dirty="0"/>
            <a:t>First item of the response list would indicate certain type of responses</a:t>
          </a:r>
          <a:br>
            <a:rPr lang="en-US" sz="1400" b="0" dirty="0"/>
          </a:br>
          <a:r>
            <a:rPr lang="en-US" sz="1400" b="0" dirty="0"/>
            <a:t>Code 1 : Success (or True) # On success, the next item list would hold the successful object/list</a:t>
          </a:r>
          <a:br>
            <a:rPr lang="en-US" sz="1400" b="0" dirty="0"/>
          </a:br>
          <a:r>
            <a:rPr lang="en-US" sz="1400" b="0" dirty="0"/>
            <a:t>Code 0 : Failure (or False)</a:t>
          </a:r>
          <a:br>
            <a:rPr lang="en-US" sz="1400" b="0" dirty="0"/>
          </a:br>
          <a:r>
            <a:rPr lang="en-US" sz="1400" b="0" dirty="0"/>
            <a:t>Code 99 : Invalid entry/value to variable</a:t>
          </a:r>
          <a:br>
            <a:rPr lang="en-US" sz="1400" b="0" dirty="0"/>
          </a:br>
          <a:r>
            <a:rPr lang="en-US" sz="1400" b="0" dirty="0"/>
            <a:t>Code 100 : Exception </a:t>
          </a:r>
          <a:r>
            <a:rPr lang="en-US" sz="1400" b="0" dirty="0" err="1"/>
            <a:t>occured</a:t>
          </a:r>
          <a:endParaRPr lang="en-IN" sz="1400" b="0" dirty="0"/>
        </a:p>
      </dgm:t>
    </dgm:pt>
    <dgm:pt modelId="{8672F73F-00F5-41CA-99D9-46A103A4B9EB}" type="parTrans" cxnId="{F02F97E6-114D-42B5-85F3-1217A28551D6}">
      <dgm:prSet/>
      <dgm:spPr/>
      <dgm:t>
        <a:bodyPr/>
        <a:lstStyle/>
        <a:p>
          <a:endParaRPr lang="en-IN"/>
        </a:p>
      </dgm:t>
    </dgm:pt>
    <dgm:pt modelId="{B6E8F0F2-F86E-40AF-A023-AD7A96138FFB}" type="sibTrans" cxnId="{F02F97E6-114D-42B5-85F3-1217A28551D6}">
      <dgm:prSet/>
      <dgm:spPr/>
      <dgm:t>
        <a:bodyPr/>
        <a:lstStyle/>
        <a:p>
          <a:endParaRPr lang="en-IN"/>
        </a:p>
      </dgm:t>
    </dgm:pt>
    <dgm:pt modelId="{D64E3C4A-A322-46AA-A61C-B7151D2CF9CD}">
      <dgm:prSet custT="1"/>
      <dgm:spPr/>
      <dgm:t>
        <a:bodyPr/>
        <a:lstStyle/>
        <a:p>
          <a:pPr>
            <a:lnSpc>
              <a:spcPct val="100000"/>
            </a:lnSpc>
          </a:pPr>
          <a:r>
            <a:rPr lang="en-US" sz="1400" b="0" dirty="0">
              <a:latin typeface="+mn-lt"/>
            </a:rPr>
            <a:t>Terminal messages are grouped into many categories/types.</a:t>
          </a:r>
          <a:br>
            <a:rPr lang="en-US" sz="1400" b="0" dirty="0">
              <a:latin typeface="+mn-lt"/>
            </a:rPr>
          </a:br>
          <a:r>
            <a:rPr lang="en-US" sz="1400" b="0" dirty="0">
              <a:latin typeface="+mn-lt"/>
            </a:rPr>
            <a:t>Some may be enabled only when the DEBUG_MODE is set to true </a:t>
          </a:r>
          <a:br>
            <a:rPr lang="en-US" sz="1400" b="0" dirty="0">
              <a:latin typeface="+mn-lt"/>
            </a:rPr>
          </a:br>
          <a:r>
            <a:rPr lang="en-US" sz="1400" b="0" dirty="0">
              <a:latin typeface="+mn-lt"/>
            </a:rPr>
            <a:t>They are : </a:t>
          </a:r>
          <a:br>
            <a:rPr lang="en-US" sz="1400" b="0" dirty="0">
              <a:latin typeface="+mn-lt"/>
            </a:rPr>
          </a:br>
          <a:r>
            <a:rPr lang="en-US" sz="1400" b="0" dirty="0">
              <a:latin typeface="+mn-lt"/>
            </a:rPr>
            <a:t>[WELCOME] - Displays only first time when the user logs in </a:t>
          </a:r>
          <a:br>
            <a:rPr lang="en-US" sz="1400" b="0" dirty="0">
              <a:latin typeface="+mn-lt"/>
            </a:rPr>
          </a:br>
          <a:r>
            <a:rPr lang="en-US" sz="1400" b="0" dirty="0">
              <a:latin typeface="+mn-lt"/>
            </a:rPr>
            <a:t>[MESSAGE] - Messages displayed to the user </a:t>
          </a:r>
          <a:br>
            <a:rPr lang="en-US" sz="1400" b="0" dirty="0">
              <a:latin typeface="+mn-lt"/>
            </a:rPr>
          </a:br>
          <a:r>
            <a:rPr lang="en-US" sz="1400" b="0" dirty="0">
              <a:latin typeface="+mn-lt"/>
            </a:rPr>
            <a:t>[INPUT] - When terminal cursor is waiting for the input from user </a:t>
          </a:r>
        </a:p>
        <a:p>
          <a:pPr>
            <a:lnSpc>
              <a:spcPct val="100000"/>
            </a:lnSpc>
          </a:pPr>
          <a:r>
            <a:rPr lang="en-US" sz="1400" b="0" dirty="0">
              <a:latin typeface="+mn-lt"/>
            </a:rPr>
            <a:t>[EMPTY] - If any expected input/object is null or empty</a:t>
          </a:r>
          <a:br>
            <a:rPr lang="en-US" sz="1400" b="0" dirty="0">
              <a:latin typeface="+mn-lt"/>
            </a:rPr>
          </a:br>
          <a:r>
            <a:rPr lang="en-US" sz="1400" b="0" dirty="0">
              <a:latin typeface="+mn-lt"/>
            </a:rPr>
            <a:t>[ERROR] - If any unexpected error occurs</a:t>
          </a:r>
          <a:br>
            <a:rPr lang="en-US" sz="1400" b="0" dirty="0">
              <a:latin typeface="+mn-lt"/>
            </a:rPr>
          </a:br>
          <a:r>
            <a:rPr lang="en-US" sz="1400" b="0" dirty="0">
              <a:latin typeface="+mn-lt"/>
            </a:rPr>
            <a:t>[EXCEPT] - When an exception occurs (When an exception is caught by the program)</a:t>
          </a:r>
        </a:p>
        <a:p>
          <a:pPr>
            <a:lnSpc>
              <a:spcPct val="100000"/>
            </a:lnSpc>
          </a:pPr>
          <a:r>
            <a:rPr lang="en-US" sz="1400" b="0" dirty="0">
              <a:latin typeface="+mn-lt"/>
            </a:rPr>
            <a:t>[DEBUG] – Displays messages only when the DEBUG_MODE is on</a:t>
          </a:r>
          <a:endParaRPr lang="en-IN" sz="1400" b="0" dirty="0">
            <a:latin typeface="+mn-lt"/>
          </a:endParaRPr>
        </a:p>
      </dgm:t>
    </dgm:pt>
    <dgm:pt modelId="{6D008881-7B5D-4297-92D0-504F5FF29DD7}" type="parTrans" cxnId="{5CA1B600-1B86-43AC-BF1A-7316B875EA8D}">
      <dgm:prSet/>
      <dgm:spPr/>
      <dgm:t>
        <a:bodyPr/>
        <a:lstStyle/>
        <a:p>
          <a:endParaRPr lang="en-IN"/>
        </a:p>
      </dgm:t>
    </dgm:pt>
    <dgm:pt modelId="{1CF992A2-E3BC-43C1-A0B3-0CD63CD6F3A8}" type="sibTrans" cxnId="{5CA1B600-1B86-43AC-BF1A-7316B875EA8D}">
      <dgm:prSet/>
      <dgm:spPr/>
      <dgm:t>
        <a:bodyPr/>
        <a:lstStyle/>
        <a:p>
          <a:endParaRPr lang="en-IN"/>
        </a:p>
      </dgm:t>
    </dgm:pt>
    <dgm:pt modelId="{8B3FDBB1-0E76-46A9-B3B1-CB3372387684}" type="pres">
      <dgm:prSet presAssocID="{BD287B55-88B9-4412-BE45-8AAFAE2D44B3}" presName="linear" presStyleCnt="0">
        <dgm:presLayoutVars>
          <dgm:animLvl val="lvl"/>
          <dgm:resizeHandles val="exact"/>
        </dgm:presLayoutVars>
      </dgm:prSet>
      <dgm:spPr/>
    </dgm:pt>
    <dgm:pt modelId="{E88BDA5E-1EA4-4B5D-935E-AFA5DAEC003A}" type="pres">
      <dgm:prSet presAssocID="{365FEB1B-4D39-4243-8433-82763535126D}" presName="parentText" presStyleLbl="node1" presStyleIdx="0" presStyleCnt="2" custScaleY="76254" custLinFactY="-5293" custLinFactNeighborX="194" custLinFactNeighborY="-100000">
        <dgm:presLayoutVars>
          <dgm:chMax val="0"/>
          <dgm:bulletEnabled val="1"/>
        </dgm:presLayoutVars>
      </dgm:prSet>
      <dgm:spPr/>
    </dgm:pt>
    <dgm:pt modelId="{79167F0A-1E56-4579-84F8-67B660819788}" type="pres">
      <dgm:prSet presAssocID="{B6E8F0F2-F86E-40AF-A023-AD7A96138FFB}" presName="spacer" presStyleCnt="0"/>
      <dgm:spPr/>
    </dgm:pt>
    <dgm:pt modelId="{E1725B22-43A3-495B-9077-BA6139D490BD}" type="pres">
      <dgm:prSet presAssocID="{D64E3C4A-A322-46AA-A61C-B7151D2CF9CD}" presName="parentText" presStyleLbl="node1" presStyleIdx="1" presStyleCnt="2" custScaleY="136980">
        <dgm:presLayoutVars>
          <dgm:chMax val="0"/>
          <dgm:bulletEnabled val="1"/>
        </dgm:presLayoutVars>
      </dgm:prSet>
      <dgm:spPr/>
    </dgm:pt>
  </dgm:ptLst>
  <dgm:cxnLst>
    <dgm:cxn modelId="{5CA1B600-1B86-43AC-BF1A-7316B875EA8D}" srcId="{BD287B55-88B9-4412-BE45-8AAFAE2D44B3}" destId="{D64E3C4A-A322-46AA-A61C-B7151D2CF9CD}" srcOrd="1" destOrd="0" parTransId="{6D008881-7B5D-4297-92D0-504F5FF29DD7}" sibTransId="{1CF992A2-E3BC-43C1-A0B3-0CD63CD6F3A8}"/>
    <dgm:cxn modelId="{7FDA8C95-EA74-4202-A577-3693A120A694}" type="presOf" srcId="{BD287B55-88B9-4412-BE45-8AAFAE2D44B3}" destId="{8B3FDBB1-0E76-46A9-B3B1-CB3372387684}" srcOrd="0" destOrd="0" presId="urn:microsoft.com/office/officeart/2005/8/layout/vList2"/>
    <dgm:cxn modelId="{21E134C2-4193-4550-B239-F4A7853D1059}" type="presOf" srcId="{365FEB1B-4D39-4243-8433-82763535126D}" destId="{E88BDA5E-1EA4-4B5D-935E-AFA5DAEC003A}" srcOrd="0" destOrd="0" presId="urn:microsoft.com/office/officeart/2005/8/layout/vList2"/>
    <dgm:cxn modelId="{B073F9CC-1848-4E30-B6C6-AEADD70E4E95}" type="presOf" srcId="{D64E3C4A-A322-46AA-A61C-B7151D2CF9CD}" destId="{E1725B22-43A3-495B-9077-BA6139D490BD}" srcOrd="0" destOrd="0" presId="urn:microsoft.com/office/officeart/2005/8/layout/vList2"/>
    <dgm:cxn modelId="{F02F97E6-114D-42B5-85F3-1217A28551D6}" srcId="{BD287B55-88B9-4412-BE45-8AAFAE2D44B3}" destId="{365FEB1B-4D39-4243-8433-82763535126D}" srcOrd="0" destOrd="0" parTransId="{8672F73F-00F5-41CA-99D9-46A103A4B9EB}" sibTransId="{B6E8F0F2-F86E-40AF-A023-AD7A96138FFB}"/>
    <dgm:cxn modelId="{11531918-C23C-43D0-A2C2-F0A0AEAD3FAE}" type="presParOf" srcId="{8B3FDBB1-0E76-46A9-B3B1-CB3372387684}" destId="{E88BDA5E-1EA4-4B5D-935E-AFA5DAEC003A}" srcOrd="0" destOrd="0" presId="urn:microsoft.com/office/officeart/2005/8/layout/vList2"/>
    <dgm:cxn modelId="{7EA46DF9-0874-426E-8512-D9517E389DC0}" type="presParOf" srcId="{8B3FDBB1-0E76-46A9-B3B1-CB3372387684}" destId="{79167F0A-1E56-4579-84F8-67B660819788}" srcOrd="1" destOrd="0" presId="urn:microsoft.com/office/officeart/2005/8/layout/vList2"/>
    <dgm:cxn modelId="{87E31D85-52A2-4F39-B5A8-F2C3E712FB4E}" type="presParOf" srcId="{8B3FDBB1-0E76-46A9-B3B1-CB3372387684}" destId="{E1725B22-43A3-495B-9077-BA6139D490B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8BDA5E-1EA4-4B5D-935E-AFA5DAEC003A}">
      <dsp:nvSpPr>
        <dsp:cNvPr id="0" name=""/>
        <dsp:cNvSpPr/>
      </dsp:nvSpPr>
      <dsp:spPr>
        <a:xfrm>
          <a:off x="0" y="80936"/>
          <a:ext cx="7450942" cy="898340"/>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Some keywords cannot be used as login ID / Password </a:t>
          </a:r>
        </a:p>
        <a:p>
          <a:pPr marL="0" lvl="0" indent="0" algn="l" defTabSz="666750">
            <a:lnSpc>
              <a:spcPct val="90000"/>
            </a:lnSpc>
            <a:spcBef>
              <a:spcPct val="0"/>
            </a:spcBef>
            <a:spcAft>
              <a:spcPct val="35000"/>
            </a:spcAft>
            <a:buNone/>
          </a:pPr>
          <a:r>
            <a:rPr lang="en-US" sz="1500" kern="1200" dirty="0"/>
            <a:t>Those listed in ['F$P$', 'admin$', 'EXIT$, LOGOUT$, MENU$, L$]</a:t>
          </a:r>
          <a:endParaRPr lang="en-IN" sz="1500" kern="1200" dirty="0"/>
        </a:p>
      </dsp:txBody>
      <dsp:txXfrm>
        <a:off x="43853" y="124789"/>
        <a:ext cx="7363236" cy="810634"/>
      </dsp:txXfrm>
    </dsp:sp>
    <dsp:sp modelId="{F8BC4EE1-8756-422A-98E5-E4482E0450A5}">
      <dsp:nvSpPr>
        <dsp:cNvPr id="0" name=""/>
        <dsp:cNvSpPr/>
      </dsp:nvSpPr>
      <dsp:spPr>
        <a:xfrm>
          <a:off x="0" y="1022476"/>
          <a:ext cx="7450942" cy="898340"/>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All users' Registration ID starts with '</a:t>
          </a:r>
          <a:r>
            <a:rPr lang="en-US" sz="1500" b="1" kern="1200" dirty="0"/>
            <a:t>U</a:t>
          </a:r>
          <a:r>
            <a:rPr lang="en-US" sz="1500" kern="1200" dirty="0"/>
            <a:t>' followed by 9 characters</a:t>
          </a:r>
          <a:endParaRPr lang="en-IN" sz="1500" kern="1200" dirty="0"/>
        </a:p>
      </dsp:txBody>
      <dsp:txXfrm>
        <a:off x="43853" y="1066329"/>
        <a:ext cx="7363236" cy="810634"/>
      </dsp:txXfrm>
    </dsp:sp>
    <dsp:sp modelId="{F416B8AD-F6AC-4B75-A71A-5FB810C34DD0}">
      <dsp:nvSpPr>
        <dsp:cNvPr id="0" name=""/>
        <dsp:cNvSpPr/>
      </dsp:nvSpPr>
      <dsp:spPr>
        <a:xfrm>
          <a:off x="0" y="1964017"/>
          <a:ext cx="7450942" cy="898340"/>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All librarians' Registration ID starts with '</a:t>
          </a:r>
          <a:r>
            <a:rPr lang="en-US" sz="1500" b="1" kern="1200" dirty="0"/>
            <a:t>L</a:t>
          </a:r>
          <a:r>
            <a:rPr lang="en-US" sz="1500" kern="1200" dirty="0"/>
            <a:t>' followed by 9 characters</a:t>
          </a:r>
          <a:endParaRPr lang="en-IN" sz="1500" kern="1200" dirty="0"/>
        </a:p>
      </dsp:txBody>
      <dsp:txXfrm>
        <a:off x="43853" y="2007870"/>
        <a:ext cx="7363236" cy="810634"/>
      </dsp:txXfrm>
    </dsp:sp>
    <dsp:sp modelId="{87DE69A7-052E-4657-991D-D202EC9EA4D3}">
      <dsp:nvSpPr>
        <dsp:cNvPr id="0" name=""/>
        <dsp:cNvSpPr/>
      </dsp:nvSpPr>
      <dsp:spPr>
        <a:xfrm>
          <a:off x="0" y="2905557"/>
          <a:ext cx="7450942" cy="898340"/>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sz="1500" kern="1200" dirty="0"/>
            <a:t>All Book code starts with ‘</a:t>
          </a:r>
          <a:r>
            <a:rPr lang="en-US" sz="1500" b="1" kern="1200" dirty="0"/>
            <a:t>B</a:t>
          </a:r>
          <a:r>
            <a:rPr lang="en-US" sz="1500" kern="1200" dirty="0"/>
            <a:t>' followed by 9 characters</a:t>
          </a:r>
          <a:endParaRPr lang="en-IN" sz="1500" kern="1200" dirty="0"/>
        </a:p>
      </dsp:txBody>
      <dsp:txXfrm>
        <a:off x="43853" y="2949410"/>
        <a:ext cx="7363236" cy="810634"/>
      </dsp:txXfrm>
    </dsp:sp>
    <dsp:sp modelId="{E1725B22-43A3-495B-9077-BA6139D490BD}">
      <dsp:nvSpPr>
        <dsp:cNvPr id="0" name=""/>
        <dsp:cNvSpPr/>
      </dsp:nvSpPr>
      <dsp:spPr>
        <a:xfrm>
          <a:off x="0" y="3847098"/>
          <a:ext cx="7450942" cy="1380812"/>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Registration ID and the Book Code are generated by fetching the last record from the table adding 1 to the integer part and adding a suffix of '</a:t>
          </a:r>
          <a:r>
            <a:rPr lang="en-US" sz="1500" b="1" kern="1200" dirty="0"/>
            <a:t>U</a:t>
          </a:r>
          <a:r>
            <a:rPr lang="en-US" sz="1500" kern="1200" dirty="0"/>
            <a:t>’ or ‘</a:t>
          </a:r>
          <a:r>
            <a:rPr lang="en-US" sz="1500" b="1" kern="1200" dirty="0"/>
            <a:t>L</a:t>
          </a:r>
          <a:r>
            <a:rPr lang="en-US" sz="1500" kern="1200" dirty="0"/>
            <a:t>’ or ‘</a:t>
          </a:r>
          <a:r>
            <a:rPr lang="en-US" sz="1500" b="1" kern="1200" dirty="0"/>
            <a:t>B</a:t>
          </a:r>
          <a:r>
            <a:rPr lang="en-US" sz="1500" kern="1200" dirty="0"/>
            <a:t>’ based on Users table or Librarians table or Books table respectively.</a:t>
          </a:r>
          <a:endParaRPr lang="en-IN" sz="1500" kern="1200" dirty="0"/>
        </a:p>
      </dsp:txBody>
      <dsp:txXfrm>
        <a:off x="67406" y="3914504"/>
        <a:ext cx="7316130" cy="1246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8BDA5E-1EA4-4B5D-935E-AFA5DAEC003A}">
      <dsp:nvSpPr>
        <dsp:cNvPr id="0" name=""/>
        <dsp:cNvSpPr/>
      </dsp:nvSpPr>
      <dsp:spPr>
        <a:xfrm>
          <a:off x="0" y="719816"/>
          <a:ext cx="9164332" cy="1636458"/>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100000"/>
            </a:lnSpc>
            <a:spcBef>
              <a:spcPct val="0"/>
            </a:spcBef>
            <a:spcAft>
              <a:spcPct val="35000"/>
            </a:spcAft>
            <a:buNone/>
          </a:pPr>
          <a:r>
            <a:rPr lang="en-US" sz="1400" b="0" kern="1200" dirty="0"/>
            <a:t>First item of the response list would indicate certain type of responses</a:t>
          </a:r>
          <a:br>
            <a:rPr lang="en-US" sz="1400" b="0" kern="1200" dirty="0"/>
          </a:br>
          <a:r>
            <a:rPr lang="en-US" sz="1400" b="0" kern="1200" dirty="0"/>
            <a:t>Code 1 : Success (or True) # On success, the next item list would hold the successful object/list</a:t>
          </a:r>
          <a:br>
            <a:rPr lang="en-US" sz="1400" b="0" kern="1200" dirty="0"/>
          </a:br>
          <a:r>
            <a:rPr lang="en-US" sz="1400" b="0" kern="1200" dirty="0"/>
            <a:t>Code 0 : Failure (or False)</a:t>
          </a:r>
          <a:br>
            <a:rPr lang="en-US" sz="1400" b="0" kern="1200" dirty="0"/>
          </a:br>
          <a:r>
            <a:rPr lang="en-US" sz="1400" b="0" kern="1200" dirty="0"/>
            <a:t>Code 99 : Invalid entry/value to variable</a:t>
          </a:r>
          <a:br>
            <a:rPr lang="en-US" sz="1400" b="0" kern="1200" dirty="0"/>
          </a:br>
          <a:r>
            <a:rPr lang="en-US" sz="1400" b="0" kern="1200" dirty="0"/>
            <a:t>Code 100 : Exception </a:t>
          </a:r>
          <a:r>
            <a:rPr lang="en-US" sz="1400" b="0" kern="1200" dirty="0" err="1"/>
            <a:t>occured</a:t>
          </a:r>
          <a:endParaRPr lang="en-IN" sz="1400" b="0" kern="1200" dirty="0"/>
        </a:p>
      </dsp:txBody>
      <dsp:txXfrm>
        <a:off x="79885" y="799701"/>
        <a:ext cx="9004562" cy="1476688"/>
      </dsp:txXfrm>
    </dsp:sp>
    <dsp:sp modelId="{E1725B22-43A3-495B-9077-BA6139D490BD}">
      <dsp:nvSpPr>
        <dsp:cNvPr id="0" name=""/>
        <dsp:cNvSpPr/>
      </dsp:nvSpPr>
      <dsp:spPr>
        <a:xfrm>
          <a:off x="0" y="2498159"/>
          <a:ext cx="9164332" cy="2939676"/>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100000"/>
            </a:lnSpc>
            <a:spcBef>
              <a:spcPct val="0"/>
            </a:spcBef>
            <a:spcAft>
              <a:spcPct val="35000"/>
            </a:spcAft>
            <a:buNone/>
          </a:pPr>
          <a:r>
            <a:rPr lang="en-US" sz="1400" b="0" kern="1200" dirty="0">
              <a:latin typeface="+mn-lt"/>
            </a:rPr>
            <a:t>Terminal messages are grouped into many categories/types.</a:t>
          </a:r>
          <a:br>
            <a:rPr lang="en-US" sz="1400" b="0" kern="1200" dirty="0">
              <a:latin typeface="+mn-lt"/>
            </a:rPr>
          </a:br>
          <a:r>
            <a:rPr lang="en-US" sz="1400" b="0" kern="1200" dirty="0">
              <a:latin typeface="+mn-lt"/>
            </a:rPr>
            <a:t>Some may be enabled only when the DEBUG_MODE is set to true </a:t>
          </a:r>
          <a:br>
            <a:rPr lang="en-US" sz="1400" b="0" kern="1200" dirty="0">
              <a:latin typeface="+mn-lt"/>
            </a:rPr>
          </a:br>
          <a:r>
            <a:rPr lang="en-US" sz="1400" b="0" kern="1200" dirty="0">
              <a:latin typeface="+mn-lt"/>
            </a:rPr>
            <a:t>They are : </a:t>
          </a:r>
          <a:br>
            <a:rPr lang="en-US" sz="1400" b="0" kern="1200" dirty="0">
              <a:latin typeface="+mn-lt"/>
            </a:rPr>
          </a:br>
          <a:r>
            <a:rPr lang="en-US" sz="1400" b="0" kern="1200" dirty="0">
              <a:latin typeface="+mn-lt"/>
            </a:rPr>
            <a:t>[WELCOME] - Displays only first time when the user logs in </a:t>
          </a:r>
          <a:br>
            <a:rPr lang="en-US" sz="1400" b="0" kern="1200" dirty="0">
              <a:latin typeface="+mn-lt"/>
            </a:rPr>
          </a:br>
          <a:r>
            <a:rPr lang="en-US" sz="1400" b="0" kern="1200" dirty="0">
              <a:latin typeface="+mn-lt"/>
            </a:rPr>
            <a:t>[MESSAGE] - Messages displayed to the user </a:t>
          </a:r>
          <a:br>
            <a:rPr lang="en-US" sz="1400" b="0" kern="1200" dirty="0">
              <a:latin typeface="+mn-lt"/>
            </a:rPr>
          </a:br>
          <a:r>
            <a:rPr lang="en-US" sz="1400" b="0" kern="1200" dirty="0">
              <a:latin typeface="+mn-lt"/>
            </a:rPr>
            <a:t>[INPUT] - When terminal cursor is waiting for the input from user </a:t>
          </a:r>
        </a:p>
        <a:p>
          <a:pPr marL="0" lvl="0" indent="0" algn="l" defTabSz="622300">
            <a:lnSpc>
              <a:spcPct val="100000"/>
            </a:lnSpc>
            <a:spcBef>
              <a:spcPct val="0"/>
            </a:spcBef>
            <a:spcAft>
              <a:spcPct val="35000"/>
            </a:spcAft>
            <a:buNone/>
          </a:pPr>
          <a:r>
            <a:rPr lang="en-US" sz="1400" b="0" kern="1200" dirty="0">
              <a:latin typeface="+mn-lt"/>
            </a:rPr>
            <a:t>[EMPTY] - If any expected input/object is null or empty</a:t>
          </a:r>
          <a:br>
            <a:rPr lang="en-US" sz="1400" b="0" kern="1200" dirty="0">
              <a:latin typeface="+mn-lt"/>
            </a:rPr>
          </a:br>
          <a:r>
            <a:rPr lang="en-US" sz="1400" b="0" kern="1200" dirty="0">
              <a:latin typeface="+mn-lt"/>
            </a:rPr>
            <a:t>[ERROR] - If any unexpected error occurs</a:t>
          </a:r>
          <a:br>
            <a:rPr lang="en-US" sz="1400" b="0" kern="1200" dirty="0">
              <a:latin typeface="+mn-lt"/>
            </a:rPr>
          </a:br>
          <a:r>
            <a:rPr lang="en-US" sz="1400" b="0" kern="1200" dirty="0">
              <a:latin typeface="+mn-lt"/>
            </a:rPr>
            <a:t>[EXCEPT] - When an exception occurs (When an exception is caught by the program)</a:t>
          </a:r>
        </a:p>
        <a:p>
          <a:pPr marL="0" lvl="0" indent="0" algn="l" defTabSz="622300">
            <a:lnSpc>
              <a:spcPct val="100000"/>
            </a:lnSpc>
            <a:spcBef>
              <a:spcPct val="0"/>
            </a:spcBef>
            <a:spcAft>
              <a:spcPct val="35000"/>
            </a:spcAft>
            <a:buNone/>
          </a:pPr>
          <a:r>
            <a:rPr lang="en-US" sz="1400" b="0" kern="1200" dirty="0">
              <a:latin typeface="+mn-lt"/>
            </a:rPr>
            <a:t>[DEBUG] – Displays messages only when the DEBUG_MODE is on</a:t>
          </a:r>
          <a:endParaRPr lang="en-IN" sz="1400" b="0" kern="1200" dirty="0">
            <a:latin typeface="+mn-lt"/>
          </a:endParaRPr>
        </a:p>
      </dsp:txBody>
      <dsp:txXfrm>
        <a:off x="143503" y="2641662"/>
        <a:ext cx="8877326" cy="26526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9/11/2019</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9/11/2019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9/11/2019</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9/11/2019</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Terminal Library Management</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Course-time : Phase 1 : Project 01</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IN" b="1" dirty="0"/>
              <a:t>Requirement Specification </a:t>
            </a:r>
          </a:p>
        </p:txBody>
      </p:sp>
      <p:sp>
        <p:nvSpPr>
          <p:cNvPr id="38" name="Content Placeholder 17"/>
          <p:cNvSpPr txBox="1">
            <a:spLocks/>
          </p:cNvSpPr>
          <p:nvPr/>
        </p:nvSpPr>
        <p:spPr>
          <a:xfrm>
            <a:off x="594875" y="1509203"/>
            <a:ext cx="10990483" cy="4750507"/>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b="1" dirty="0"/>
              <a:t>Terminal Library Management</a:t>
            </a:r>
          </a:p>
          <a:p>
            <a:pPr marL="0" indent="0">
              <a:lnSpc>
                <a:spcPct val="100000"/>
              </a:lnSpc>
              <a:buNone/>
            </a:pPr>
            <a:r>
              <a:rPr lang="en-IN" sz="1400" dirty="0"/>
              <a:t>There are three actors in this program, namely, </a:t>
            </a:r>
          </a:p>
          <a:p>
            <a:pPr lvl="0">
              <a:lnSpc>
                <a:spcPts val="100"/>
              </a:lnSpc>
            </a:pPr>
            <a:r>
              <a:rPr lang="en-IN" sz="1400" dirty="0"/>
              <a:t>librarian, </a:t>
            </a:r>
          </a:p>
          <a:p>
            <a:pPr lvl="0">
              <a:lnSpc>
                <a:spcPts val="100"/>
              </a:lnSpc>
            </a:pPr>
            <a:r>
              <a:rPr lang="en-IN" sz="1400" dirty="0"/>
              <a:t>user </a:t>
            </a:r>
          </a:p>
          <a:p>
            <a:pPr lvl="0">
              <a:lnSpc>
                <a:spcPts val="100"/>
              </a:lnSpc>
            </a:pPr>
            <a:r>
              <a:rPr lang="en-IN" sz="1400" dirty="0"/>
              <a:t>and books. </a:t>
            </a:r>
          </a:p>
          <a:p>
            <a:pPr marL="0" lvl="0" indent="0">
              <a:lnSpc>
                <a:spcPts val="100"/>
              </a:lnSpc>
              <a:buNone/>
            </a:pPr>
            <a:endParaRPr lang="en-IN" sz="1400" dirty="0"/>
          </a:p>
          <a:p>
            <a:pPr marL="0" indent="0">
              <a:buNone/>
            </a:pPr>
            <a:r>
              <a:rPr lang="en-IN" sz="1400" dirty="0"/>
              <a:t>The </a:t>
            </a:r>
            <a:r>
              <a:rPr lang="en-IN" sz="1400" b="1" dirty="0"/>
              <a:t>books</a:t>
            </a:r>
            <a:r>
              <a:rPr lang="en-IN" sz="1400" dirty="0"/>
              <a:t> will have author, name, publication company, rented date, rented user.</a:t>
            </a:r>
          </a:p>
          <a:p>
            <a:pPr marL="0" indent="0">
              <a:buNone/>
            </a:pPr>
            <a:r>
              <a:rPr lang="en-IN" sz="1400" dirty="0"/>
              <a:t>The </a:t>
            </a:r>
            <a:r>
              <a:rPr lang="en-IN" sz="1400" b="1" dirty="0"/>
              <a:t>librarian</a:t>
            </a:r>
            <a:r>
              <a:rPr lang="en-IN" sz="1400" dirty="0"/>
              <a:t> can add books. The </a:t>
            </a:r>
            <a:r>
              <a:rPr lang="en-IN" sz="1600" dirty="0"/>
              <a:t>librarian</a:t>
            </a:r>
            <a:r>
              <a:rPr lang="en-IN" sz="1400" dirty="0"/>
              <a:t> will have fields such as name and contact information. </a:t>
            </a:r>
          </a:p>
          <a:p>
            <a:pPr marL="0" indent="0">
              <a:buNone/>
            </a:pPr>
            <a:r>
              <a:rPr lang="en-IN" sz="1400" dirty="0"/>
              <a:t>The </a:t>
            </a:r>
            <a:r>
              <a:rPr lang="en-IN" sz="1400" b="1" dirty="0"/>
              <a:t>user</a:t>
            </a:r>
            <a:r>
              <a:rPr lang="en-IN" sz="1400" dirty="0"/>
              <a:t> will register in the library by providing his name, contact information The users may take the books for rental. The users will have name, fees and contact details. The user will have registration and login. </a:t>
            </a: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IN" b="1" dirty="0"/>
              <a:t>Requirement Specification </a:t>
            </a:r>
          </a:p>
        </p:txBody>
      </p:sp>
      <p:sp>
        <p:nvSpPr>
          <p:cNvPr id="38" name="Content Placeholder 17"/>
          <p:cNvSpPr txBox="1">
            <a:spLocks/>
          </p:cNvSpPr>
          <p:nvPr/>
        </p:nvSpPr>
        <p:spPr>
          <a:xfrm>
            <a:off x="600758" y="1535836"/>
            <a:ext cx="10990483" cy="4750507"/>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a:t>Design a </a:t>
            </a:r>
            <a:r>
              <a:rPr lang="en-IN" sz="1400" b="1" dirty="0"/>
              <a:t>SQL database </a:t>
            </a:r>
            <a:r>
              <a:rPr lang="en-IN" sz="1400" dirty="0"/>
              <a:t>with tables users, librarian, books. </a:t>
            </a:r>
          </a:p>
          <a:p>
            <a:pPr marL="0" indent="0">
              <a:buNone/>
            </a:pPr>
            <a:r>
              <a:rPr lang="en-IN" sz="1400" dirty="0"/>
              <a:t>Design a </a:t>
            </a:r>
            <a:r>
              <a:rPr lang="en-IN" sz="1400" b="1" dirty="0"/>
              <a:t>menu</a:t>
            </a:r>
            <a:r>
              <a:rPr lang="en-IN" sz="1400" dirty="0"/>
              <a:t> to </a:t>
            </a:r>
          </a:p>
          <a:p>
            <a:pPr marL="457200" lvl="1" indent="0">
              <a:lnSpc>
                <a:spcPts val="80"/>
              </a:lnSpc>
              <a:buNone/>
            </a:pPr>
            <a:r>
              <a:rPr lang="en-IN" sz="1400" dirty="0"/>
              <a:t>a) add user, add librarian, add books. </a:t>
            </a:r>
          </a:p>
          <a:p>
            <a:pPr marL="457200" lvl="1" indent="0">
              <a:lnSpc>
                <a:spcPts val="80"/>
              </a:lnSpc>
              <a:buNone/>
            </a:pPr>
            <a:r>
              <a:rPr lang="en-IN" sz="1400" dirty="0"/>
              <a:t>b) update user details, update books details </a:t>
            </a:r>
          </a:p>
          <a:p>
            <a:pPr marL="457200" lvl="1" indent="0">
              <a:lnSpc>
                <a:spcPts val="80"/>
              </a:lnSpc>
              <a:buNone/>
            </a:pPr>
            <a:r>
              <a:rPr lang="en-IN" sz="1400" dirty="0"/>
              <a:t>c) delete user, delete books </a:t>
            </a:r>
          </a:p>
          <a:p>
            <a:pPr marL="457200" lvl="1" indent="0">
              <a:lnSpc>
                <a:spcPts val="80"/>
              </a:lnSpc>
              <a:buNone/>
            </a:pPr>
            <a:r>
              <a:rPr lang="en-IN" sz="1400" dirty="0"/>
              <a:t>d) read the books details and list of books available </a:t>
            </a:r>
          </a:p>
          <a:p>
            <a:pPr marL="457200" lvl="1" indent="0">
              <a:lnSpc>
                <a:spcPts val="80"/>
              </a:lnSpc>
              <a:buNone/>
            </a:pPr>
            <a:r>
              <a:rPr lang="en-IN" sz="1400" dirty="0"/>
              <a:t>e) perform rental operations </a:t>
            </a:r>
          </a:p>
          <a:p>
            <a:pPr marL="0" indent="0">
              <a:buNone/>
            </a:pPr>
            <a:r>
              <a:rPr lang="en-IN" sz="1400" dirty="0"/>
              <a:t> If a book rented date has been updated for two weeks, then the book should be notified to the librarian and user. </a:t>
            </a:r>
          </a:p>
          <a:p>
            <a:pPr marL="0" indent="0">
              <a:buNone/>
            </a:pPr>
            <a:r>
              <a:rPr lang="en-IN" sz="1400" dirty="0"/>
              <a:t>If a book is rented out for more than 20 days, fine will be added to the user. The fine will be cumulative after every 5 days after that. </a:t>
            </a:r>
            <a:r>
              <a:rPr lang="en-IN" sz="1400" dirty="0" err="1"/>
              <a:t>eg</a:t>
            </a:r>
            <a:r>
              <a:rPr lang="en-IN" sz="1400" dirty="0"/>
              <a:t>: After 20 days, the fine will be Rs. 20, after 5 days, it will be 20+25, after another 5 days it will be 20+25+30.</a:t>
            </a:r>
          </a:p>
        </p:txBody>
      </p:sp>
    </p:spTree>
    <p:extLst>
      <p:ext uri="{BB962C8B-B14F-4D97-AF65-F5344CB8AC3E}">
        <p14:creationId xmlns:p14="http://schemas.microsoft.com/office/powerpoint/2010/main" val="285428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Entities : Book</a:t>
            </a:r>
          </a:p>
        </p:txBody>
      </p:sp>
      <p:sp>
        <p:nvSpPr>
          <p:cNvPr id="25" name="Content Placeholder 17"/>
          <p:cNvSpPr txBox="1">
            <a:spLocks/>
          </p:cNvSpPr>
          <p:nvPr/>
        </p:nvSpPr>
        <p:spPr>
          <a:xfrm>
            <a:off x="541609" y="1331199"/>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Fields of a Book :</a:t>
            </a:r>
          </a:p>
        </p:txBody>
      </p:sp>
      <p:grpSp>
        <p:nvGrpSpPr>
          <p:cNvPr id="18" name="Group 17" descr="Small circle with number 1 inside  indicating step 1"/>
          <p:cNvGrpSpPr/>
          <p:nvPr/>
        </p:nvGrpSpPr>
        <p:grpSpPr bwMode="blackWhite">
          <a:xfrm>
            <a:off x="531552" y="174043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7869" y="1672957"/>
            <a:ext cx="5174255" cy="58974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book_ID</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is an auto-incremented integer value specific to the system. This helps in generating </a:t>
            </a:r>
            <a:r>
              <a:rPr lang="en-US" b="1" dirty="0">
                <a:solidFill>
                  <a:schemeClr val="accent5">
                    <a:lumMod val="75000"/>
                  </a:schemeClr>
                </a:solidFill>
                <a:latin typeface="Segoe UI" panose="020B0502040204020203" pitchFamily="34" charset="0"/>
                <a:cs typeface="Segoe UI" panose="020B0502040204020203" pitchFamily="34" charset="0"/>
              </a:rPr>
              <a:t>Book Code</a:t>
            </a:r>
            <a:r>
              <a:rPr lang="en-US" dirty="0">
                <a:solidFill>
                  <a:prstClr val="black">
                    <a:lumMod val="75000"/>
                    <a:lumOff val="25000"/>
                  </a:prstClr>
                </a:solidFill>
                <a:latin typeface="Segoe UI" panose="020B0502040204020203" pitchFamily="34" charset="0"/>
                <a:cs typeface="Segoe UI" panose="020B0502040204020203" pitchFamily="34" charset="0"/>
              </a:rPr>
              <a:t> for a new book that would be added later.</a:t>
            </a:r>
            <a:endParaRPr lang="en-US" dirty="0">
              <a:solidFill>
                <a:prstClr val="black">
                  <a:lumMod val="75000"/>
                  <a:lumOff val="25000"/>
                </a:prstClr>
              </a:solidFill>
              <a:cs typeface="Segoe UI"/>
            </a:endParaRPr>
          </a:p>
        </p:txBody>
      </p:sp>
      <p:grpSp>
        <p:nvGrpSpPr>
          <p:cNvPr id="33" name="Group 32" descr="Small circle with number 2 inside  indicating step 2"/>
          <p:cNvGrpSpPr/>
          <p:nvPr/>
        </p:nvGrpSpPr>
        <p:grpSpPr bwMode="blackWhite">
          <a:xfrm>
            <a:off x="527574" y="2248570"/>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7868" y="2189522"/>
            <a:ext cx="5038131" cy="56775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book_Code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is an alpha-numeric value generated by python with help of </a:t>
            </a:r>
            <a:r>
              <a:rPr lang="en-US" b="1" dirty="0" err="1">
                <a:solidFill>
                  <a:schemeClr val="accent5">
                    <a:lumMod val="75000"/>
                  </a:schemeClr>
                </a:solidFill>
                <a:latin typeface="Segoe UI" panose="020B0502040204020203" pitchFamily="34" charset="0"/>
                <a:cs typeface="Segoe UI" panose="020B0502040204020203" pitchFamily="34" charset="0"/>
              </a:rPr>
              <a:t>book_ID</a:t>
            </a:r>
            <a:r>
              <a:rPr lang="en-US" dirty="0">
                <a:solidFill>
                  <a:prstClr val="black">
                    <a:lumMod val="75000"/>
                    <a:lumOff val="25000"/>
                  </a:prstClr>
                </a:solidFill>
                <a:latin typeface="Segoe UI" panose="020B0502040204020203" pitchFamily="34" charset="0"/>
                <a:cs typeface="Segoe UI" panose="020B0502040204020203" pitchFamily="34" charset="0"/>
              </a:rPr>
              <a:t> before adding a new book to the system</a:t>
            </a:r>
          </a:p>
        </p:txBody>
      </p:sp>
      <p:grpSp>
        <p:nvGrpSpPr>
          <p:cNvPr id="22" name="Group 21" descr="Small circle with number 3 inside  indicating step 3"/>
          <p:cNvGrpSpPr/>
          <p:nvPr/>
        </p:nvGrpSpPr>
        <p:grpSpPr bwMode="blackWhite">
          <a:xfrm>
            <a:off x="541609" y="277036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7869" y="2726194"/>
            <a:ext cx="4881292" cy="57752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book_Name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b="1" dirty="0" err="1">
                <a:solidFill>
                  <a:schemeClr val="accent5">
                    <a:lumMod val="75000"/>
                  </a:schemeClr>
                </a:solidFill>
                <a:latin typeface="Segoe UI" panose="020B0502040204020203" pitchFamily="34" charset="0"/>
                <a:cs typeface="Segoe UI" panose="020B0502040204020203" pitchFamily="34" charset="0"/>
              </a:rPr>
              <a:t>book_Author</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b="1" dirty="0" err="1">
                <a:solidFill>
                  <a:schemeClr val="accent5">
                    <a:lumMod val="75000"/>
                  </a:schemeClr>
                </a:solidFill>
                <a:latin typeface="Segoe UI" panose="020B0502040204020203" pitchFamily="34" charset="0"/>
                <a:cs typeface="Segoe UI" panose="020B0502040204020203" pitchFamily="34" charset="0"/>
              </a:rPr>
              <a:t>book_Publication</a:t>
            </a:r>
            <a:r>
              <a:rPr lang="en-US" b="1" dirty="0">
                <a:solidFill>
                  <a:schemeClr val="accent5">
                    <a:lumMod val="75000"/>
                  </a:schemeClr>
                </a:solidFill>
                <a:latin typeface="Segoe UI" panose="020B0502040204020203" pitchFamily="34" charset="0"/>
                <a:cs typeface="Segoe UI" panose="020B0502040204020203" pitchFamily="34" charset="0"/>
              </a:rPr>
              <a:t> &amp; </a:t>
            </a:r>
            <a:r>
              <a:rPr lang="en-US" b="1" dirty="0" err="1">
                <a:solidFill>
                  <a:schemeClr val="accent5">
                    <a:lumMod val="75000"/>
                  </a:schemeClr>
                </a:solidFill>
                <a:latin typeface="Segoe UI" panose="020B0502040204020203" pitchFamily="34" charset="0"/>
                <a:cs typeface="Segoe UI" panose="020B0502040204020203" pitchFamily="34" charset="0"/>
              </a:rPr>
              <a:t>book_Category</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are </a:t>
            </a:r>
            <a:r>
              <a:rPr lang="en-US" dirty="0">
                <a:solidFill>
                  <a:prstClr val="black">
                    <a:lumMod val="75000"/>
                    <a:lumOff val="25000"/>
                  </a:prstClr>
                </a:solidFill>
                <a:latin typeface="Segoe UI" panose="020B0502040204020203" pitchFamily="34" charset="0"/>
                <a:cs typeface="Segoe UI" panose="020B0502040204020203" pitchFamily="34" charset="0"/>
              </a:rPr>
              <a:t>details of a book and are self explanatory.</a:t>
            </a:r>
            <a:endParaRPr lang="en-US" dirty="0">
              <a:solidFill>
                <a:prstClr val="black">
                  <a:lumMod val="75000"/>
                  <a:lumOff val="25000"/>
                </a:prstClr>
              </a:solidFill>
              <a:cs typeface="Segoe UI"/>
            </a:endParaRPr>
          </a:p>
        </p:txBody>
      </p:sp>
      <p:grpSp>
        <p:nvGrpSpPr>
          <p:cNvPr id="37" name="Group 36" descr="Small circle with number 4 inside  indicating step 4"/>
          <p:cNvGrpSpPr/>
          <p:nvPr/>
        </p:nvGrpSpPr>
        <p:grpSpPr bwMode="blackWhite">
          <a:xfrm>
            <a:off x="541609" y="3321650"/>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48289" y="326208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book_Fee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is stored as REAL as it would store an amount (that has decimal values) </a:t>
            </a:r>
          </a:p>
        </p:txBody>
      </p:sp>
      <p:grpSp>
        <p:nvGrpSpPr>
          <p:cNvPr id="26" name="Group 25" descr="Small circle with number 2 inside  indicating step 2">
            <a:extLst>
              <a:ext uri="{FF2B5EF4-FFF2-40B4-BE49-F238E27FC236}">
                <a16:creationId xmlns:a16="http://schemas.microsoft.com/office/drawing/2014/main" id="{0BB201BE-B6D9-42B1-AA0B-71C7F81735CD}"/>
              </a:ext>
            </a:extLst>
          </p:cNvPr>
          <p:cNvGrpSpPr/>
          <p:nvPr/>
        </p:nvGrpSpPr>
        <p:grpSpPr bwMode="blackWhite">
          <a:xfrm>
            <a:off x="542965" y="3845185"/>
            <a:ext cx="558179" cy="409838"/>
            <a:chOff x="6953426" y="711274"/>
            <a:chExt cx="558179" cy="409838"/>
          </a:xfrm>
        </p:grpSpPr>
        <p:sp>
          <p:nvSpPr>
            <p:cNvPr id="27" name="Oval 26" descr="Small circle">
              <a:extLst>
                <a:ext uri="{FF2B5EF4-FFF2-40B4-BE49-F238E27FC236}">
                  <a16:creationId xmlns:a16="http://schemas.microsoft.com/office/drawing/2014/main" id="{0E1572F9-49F1-4F3E-901C-BAE71BAB60C0}"/>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2">
              <a:extLst>
                <a:ext uri="{FF2B5EF4-FFF2-40B4-BE49-F238E27FC236}">
                  <a16:creationId xmlns:a16="http://schemas.microsoft.com/office/drawing/2014/main" id="{CAD591E5-EDEF-4EA0-AD5E-8402B036523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5</a:t>
              </a:r>
            </a:p>
          </p:txBody>
        </p:sp>
      </p:grpSp>
      <p:sp>
        <p:nvSpPr>
          <p:cNvPr id="31" name="Content Placeholder 17">
            <a:extLst>
              <a:ext uri="{FF2B5EF4-FFF2-40B4-BE49-F238E27FC236}">
                <a16:creationId xmlns:a16="http://schemas.microsoft.com/office/drawing/2014/main" id="{6EE4E201-E088-4A08-A821-2E2C7C3DEDAA}"/>
              </a:ext>
            </a:extLst>
          </p:cNvPr>
          <p:cNvSpPr txBox="1">
            <a:spLocks/>
          </p:cNvSpPr>
          <p:nvPr/>
        </p:nvSpPr>
        <p:spPr>
          <a:xfrm>
            <a:off x="1057868" y="3723562"/>
            <a:ext cx="5097145" cy="77387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issued_By</a:t>
            </a:r>
            <a:r>
              <a:rPr lang="en-US" b="1" dirty="0">
                <a:solidFill>
                  <a:schemeClr val="accent5">
                    <a:lumMod val="75000"/>
                  </a:schemeClr>
                </a:solidFill>
                <a:latin typeface="Segoe UI" panose="020B0502040204020203" pitchFamily="34" charset="0"/>
                <a:cs typeface="Segoe UI" panose="020B0502040204020203" pitchFamily="34" charset="0"/>
              </a:rPr>
              <a:t> &amp; </a:t>
            </a:r>
            <a:r>
              <a:rPr lang="en-US" b="1" dirty="0" err="1">
                <a:solidFill>
                  <a:schemeClr val="accent5">
                    <a:lumMod val="75000"/>
                  </a:schemeClr>
                </a:solidFill>
                <a:latin typeface="Segoe UI" panose="020B0502040204020203" pitchFamily="34" charset="0"/>
                <a:cs typeface="Segoe UI" panose="020B0502040204020203" pitchFamily="34" charset="0"/>
              </a:rPr>
              <a:t>issued_To</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be alpha-numeric values as they are the </a:t>
            </a:r>
            <a:r>
              <a:rPr lang="en-US" b="1" i="1" dirty="0">
                <a:solidFill>
                  <a:schemeClr val="tx1"/>
                </a:solidFill>
                <a:latin typeface="Segoe UI" panose="020B0502040204020203" pitchFamily="34" charset="0"/>
                <a:cs typeface="Segoe UI" panose="020B0502040204020203" pitchFamily="34" charset="0"/>
              </a:rPr>
              <a:t>foreign key values </a:t>
            </a:r>
            <a:r>
              <a:rPr lang="en-US" dirty="0">
                <a:solidFill>
                  <a:schemeClr val="tx1"/>
                </a:solidFill>
                <a:latin typeface="Segoe UI" panose="020B0502040204020203" pitchFamily="34" charset="0"/>
                <a:cs typeface="Segoe UI" panose="020B0502040204020203" pitchFamily="34" charset="0"/>
              </a:rPr>
              <a:t>of the </a:t>
            </a:r>
            <a:r>
              <a:rPr lang="en-US" b="1" dirty="0">
                <a:solidFill>
                  <a:schemeClr val="tx1"/>
                </a:solidFill>
                <a:latin typeface="Segoe UI" panose="020B0502040204020203" pitchFamily="34" charset="0"/>
                <a:cs typeface="Segoe UI" panose="020B0502040204020203" pitchFamily="34" charset="0"/>
              </a:rPr>
              <a:t>Librarian &amp; Users’ registration numbers </a:t>
            </a:r>
            <a:r>
              <a:rPr lang="en-US" dirty="0">
                <a:solidFill>
                  <a:schemeClr val="tx1"/>
                </a:solidFill>
                <a:latin typeface="Segoe UI" panose="020B0502040204020203" pitchFamily="34" charset="0"/>
                <a:cs typeface="Segoe UI" panose="020B0502040204020203" pitchFamily="34" charset="0"/>
              </a:rPr>
              <a:t>respectively.</a:t>
            </a:r>
          </a:p>
        </p:txBody>
      </p:sp>
      <p:grpSp>
        <p:nvGrpSpPr>
          <p:cNvPr id="41" name="Group 40" descr="Small circle with number 3 inside  indicating step 3">
            <a:extLst>
              <a:ext uri="{FF2B5EF4-FFF2-40B4-BE49-F238E27FC236}">
                <a16:creationId xmlns:a16="http://schemas.microsoft.com/office/drawing/2014/main" id="{B3C6982C-224D-45DF-A582-4CF82783975F}"/>
              </a:ext>
            </a:extLst>
          </p:cNvPr>
          <p:cNvGrpSpPr/>
          <p:nvPr/>
        </p:nvGrpSpPr>
        <p:grpSpPr bwMode="blackWhite">
          <a:xfrm>
            <a:off x="551797" y="4505365"/>
            <a:ext cx="558179" cy="409838"/>
            <a:chOff x="6953426" y="711274"/>
            <a:chExt cx="558179" cy="409838"/>
          </a:xfrm>
        </p:grpSpPr>
        <p:sp>
          <p:nvSpPr>
            <p:cNvPr id="42" name="Oval 41" descr="Small circle">
              <a:extLst>
                <a:ext uri="{FF2B5EF4-FFF2-40B4-BE49-F238E27FC236}">
                  <a16:creationId xmlns:a16="http://schemas.microsoft.com/office/drawing/2014/main" id="{30EFD12D-FCED-4BC8-8844-C58257B64D9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descr="Number 3">
              <a:extLst>
                <a:ext uri="{FF2B5EF4-FFF2-40B4-BE49-F238E27FC236}">
                  <a16:creationId xmlns:a16="http://schemas.microsoft.com/office/drawing/2014/main" id="{AADCD949-7796-4148-A7C3-0FC019C4D541}"/>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6</a:t>
              </a:r>
            </a:p>
          </p:txBody>
        </p:sp>
      </p:grpSp>
      <p:sp>
        <p:nvSpPr>
          <p:cNvPr id="44" name="Content Placeholder 17">
            <a:extLst>
              <a:ext uri="{FF2B5EF4-FFF2-40B4-BE49-F238E27FC236}">
                <a16:creationId xmlns:a16="http://schemas.microsoft.com/office/drawing/2014/main" id="{6E2B5E08-E805-4007-B85C-1CEC18A18DFB}"/>
              </a:ext>
            </a:extLst>
          </p:cNvPr>
          <p:cNvSpPr txBox="1">
            <a:spLocks/>
          </p:cNvSpPr>
          <p:nvPr/>
        </p:nvSpPr>
        <p:spPr>
          <a:xfrm>
            <a:off x="1033278" y="4449860"/>
            <a:ext cx="4608966" cy="62179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issue_Date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be a text as a date value is stored as text in </a:t>
            </a:r>
            <a:r>
              <a:rPr lang="en-US" b="1" dirty="0">
                <a:solidFill>
                  <a:schemeClr val="accent5">
                    <a:lumMod val="75000"/>
                  </a:schemeClr>
                </a:solidFill>
                <a:latin typeface="Segoe UI" panose="020B0502040204020203" pitchFamily="34" charset="0"/>
                <a:cs typeface="Segoe UI" panose="020B0502040204020203" pitchFamily="34" charset="0"/>
              </a:rPr>
              <a:t>SQLite</a:t>
            </a:r>
            <a:endParaRPr lang="en-US" dirty="0">
              <a:solidFill>
                <a:prstClr val="black">
                  <a:lumMod val="75000"/>
                  <a:lumOff val="25000"/>
                </a:prstClr>
              </a:solidFill>
              <a:cs typeface="Segoe UI"/>
            </a:endParaRPr>
          </a:p>
        </p:txBody>
      </p:sp>
      <p:grpSp>
        <p:nvGrpSpPr>
          <p:cNvPr id="45" name="Group 44" descr="Small circle with number 4 inside  indicating step 4">
            <a:extLst>
              <a:ext uri="{FF2B5EF4-FFF2-40B4-BE49-F238E27FC236}">
                <a16:creationId xmlns:a16="http://schemas.microsoft.com/office/drawing/2014/main" id="{441AC9F1-3546-49BA-8051-4D126062955B}"/>
              </a:ext>
            </a:extLst>
          </p:cNvPr>
          <p:cNvGrpSpPr/>
          <p:nvPr/>
        </p:nvGrpSpPr>
        <p:grpSpPr bwMode="blackWhite">
          <a:xfrm>
            <a:off x="549269" y="5409469"/>
            <a:ext cx="558179" cy="409838"/>
            <a:chOff x="6953426" y="711274"/>
            <a:chExt cx="558179" cy="409838"/>
          </a:xfrm>
        </p:grpSpPr>
        <p:sp>
          <p:nvSpPr>
            <p:cNvPr id="46" name="Oval 45" descr="Small circle">
              <a:extLst>
                <a:ext uri="{FF2B5EF4-FFF2-40B4-BE49-F238E27FC236}">
                  <a16:creationId xmlns:a16="http://schemas.microsoft.com/office/drawing/2014/main" id="{6F2ED958-E558-4785-B45D-310A07B4461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descr="Number 4">
              <a:extLst>
                <a:ext uri="{FF2B5EF4-FFF2-40B4-BE49-F238E27FC236}">
                  <a16:creationId xmlns:a16="http://schemas.microsoft.com/office/drawing/2014/main" id="{633212C9-F5EB-444A-9C93-C797F065F85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7</a:t>
              </a:r>
            </a:p>
          </p:txBody>
        </p:sp>
      </p:grpSp>
      <p:sp>
        <p:nvSpPr>
          <p:cNvPr id="48" name="Content Placeholder 17">
            <a:extLst>
              <a:ext uri="{FF2B5EF4-FFF2-40B4-BE49-F238E27FC236}">
                <a16:creationId xmlns:a16="http://schemas.microsoft.com/office/drawing/2014/main" id="{7356F803-3030-426E-9E29-BB2F987ED4B4}"/>
              </a:ext>
            </a:extLst>
          </p:cNvPr>
          <p:cNvSpPr txBox="1">
            <a:spLocks/>
          </p:cNvSpPr>
          <p:nvPr/>
        </p:nvSpPr>
        <p:spPr>
          <a:xfrm>
            <a:off x="1030749" y="4948387"/>
            <a:ext cx="5065249" cy="16299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availability_status</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represent whether the book is available for rent at the moment. The default value is ‘</a:t>
            </a:r>
            <a:r>
              <a:rPr lang="en-US" b="1" dirty="0">
                <a:solidFill>
                  <a:srgbClr val="0070C0"/>
                </a:solidFill>
                <a:latin typeface="Segoe UI" panose="020B0502040204020203" pitchFamily="34" charset="0"/>
                <a:cs typeface="Segoe UI" panose="020B0502040204020203" pitchFamily="34" charset="0"/>
              </a:rPr>
              <a:t>YES</a:t>
            </a:r>
            <a:r>
              <a:rPr lang="en-US" dirty="0">
                <a:solidFill>
                  <a:schemeClr val="tx1"/>
                </a:solidFill>
                <a:latin typeface="Segoe UI" panose="020B0502040204020203" pitchFamily="34" charset="0"/>
                <a:cs typeface="Segoe UI" panose="020B0502040204020203" pitchFamily="34" charset="0"/>
              </a:rPr>
              <a:t>’ as it is obvious that while adding the book to the system for the first time, the book would be available and not rented out yet. There would be no manual updating to this field as the system would handle toggling between ‘</a:t>
            </a:r>
            <a:r>
              <a:rPr lang="en-US" b="1" dirty="0">
                <a:solidFill>
                  <a:srgbClr val="0070C0"/>
                </a:solidFill>
                <a:latin typeface="Segoe UI" panose="020B0502040204020203" pitchFamily="34" charset="0"/>
                <a:cs typeface="Segoe UI" panose="020B0502040204020203" pitchFamily="34" charset="0"/>
              </a:rPr>
              <a:t>NO</a:t>
            </a:r>
            <a:r>
              <a:rPr lang="en-US" dirty="0">
                <a:solidFill>
                  <a:schemeClr val="tx1"/>
                </a:solidFill>
                <a:latin typeface="Segoe UI" panose="020B0502040204020203" pitchFamily="34" charset="0"/>
                <a:cs typeface="Segoe UI" panose="020B0502040204020203" pitchFamily="34" charset="0"/>
              </a:rPr>
              <a:t>’/’</a:t>
            </a:r>
            <a:r>
              <a:rPr lang="en-US" b="1" dirty="0">
                <a:solidFill>
                  <a:srgbClr val="0070C0"/>
                </a:solidFill>
                <a:latin typeface="Segoe UI" panose="020B0502040204020203" pitchFamily="34" charset="0"/>
                <a:cs typeface="Segoe UI" panose="020B0502040204020203" pitchFamily="34" charset="0"/>
              </a:rPr>
              <a:t>YES</a:t>
            </a:r>
            <a:r>
              <a:rPr lang="en-US" dirty="0">
                <a:solidFill>
                  <a:schemeClr val="tx1"/>
                </a:solidFill>
                <a:latin typeface="Segoe UI" panose="020B0502040204020203" pitchFamily="34" charset="0"/>
                <a:cs typeface="Segoe UI" panose="020B0502040204020203" pitchFamily="34" charset="0"/>
              </a:rPr>
              <a:t>’ as and when the book is rented out or returned.</a:t>
            </a:r>
            <a:endParaRPr lang="en-US" dirty="0">
              <a:solidFill>
                <a:prstClr val="black">
                  <a:lumMod val="75000"/>
                  <a:lumOff val="25000"/>
                </a:prstClr>
              </a:solidFill>
              <a:cs typeface="Segoe UI"/>
            </a:endParaRPr>
          </a:p>
        </p:txBody>
      </p:sp>
      <p:pic>
        <p:nvPicPr>
          <p:cNvPr id="9" name="Picture 8">
            <a:extLst>
              <a:ext uri="{FF2B5EF4-FFF2-40B4-BE49-F238E27FC236}">
                <a16:creationId xmlns:a16="http://schemas.microsoft.com/office/drawing/2014/main" id="{070BBDEC-B70E-471B-9D8C-0E582F4A85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6960" y="0"/>
            <a:ext cx="5811093" cy="6858000"/>
          </a:xfrm>
          <a:prstGeom prst="rect">
            <a:avLst/>
          </a:prstGeom>
        </p:spPr>
      </p:pic>
    </p:spTree>
    <p:extLst>
      <p:ext uri="{BB962C8B-B14F-4D97-AF65-F5344CB8AC3E}">
        <p14:creationId xmlns:p14="http://schemas.microsoft.com/office/powerpoint/2010/main" val="2013542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Recording the Transaction History</a:t>
            </a:r>
          </a:p>
        </p:txBody>
      </p:sp>
      <p:sp>
        <p:nvSpPr>
          <p:cNvPr id="25" name="Content Placeholder 17"/>
          <p:cNvSpPr txBox="1">
            <a:spLocks/>
          </p:cNvSpPr>
          <p:nvPr/>
        </p:nvSpPr>
        <p:spPr>
          <a:xfrm>
            <a:off x="541609" y="1331199"/>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This table gets populated only on the return of a book that was rented:</a:t>
            </a:r>
          </a:p>
        </p:txBody>
      </p:sp>
      <p:grpSp>
        <p:nvGrpSpPr>
          <p:cNvPr id="18" name="Group 17" descr="Small circle with number 1 inside  indicating step 1"/>
          <p:cNvGrpSpPr/>
          <p:nvPr/>
        </p:nvGrpSpPr>
        <p:grpSpPr bwMode="blackWhite">
          <a:xfrm>
            <a:off x="531552" y="174043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7870" y="1676521"/>
            <a:ext cx="4881292" cy="67569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tr_ID</a:t>
            </a:r>
            <a:r>
              <a:rPr lang="en-US" b="1" dirty="0">
                <a:solidFill>
                  <a:schemeClr val="accent5">
                    <a:lumMod val="75000"/>
                  </a:schemeClr>
                </a:solidFill>
                <a:latin typeface="Segoe UI" panose="020B0502040204020203" pitchFamily="34" charset="0"/>
                <a:cs typeface="Segoe UI" panose="020B0502040204020203" pitchFamily="34" charset="0"/>
              </a:rPr>
              <a:t> (Transaction ID) </a:t>
            </a:r>
            <a:r>
              <a:rPr lang="en-US" dirty="0">
                <a:solidFill>
                  <a:prstClr val="black">
                    <a:lumMod val="75000"/>
                    <a:lumOff val="25000"/>
                  </a:prstClr>
                </a:solidFill>
                <a:latin typeface="Segoe UI" panose="020B0502040204020203" pitchFamily="34" charset="0"/>
                <a:cs typeface="Segoe UI" panose="020B0502040204020203" pitchFamily="34" charset="0"/>
              </a:rPr>
              <a:t>is an auto-incremented integer value specific to the system. </a:t>
            </a:r>
            <a:endParaRPr lang="en-US" dirty="0">
              <a:solidFill>
                <a:prstClr val="black">
                  <a:lumMod val="75000"/>
                  <a:lumOff val="25000"/>
                </a:prstClr>
              </a:solidFill>
              <a:cs typeface="Segoe UI"/>
            </a:endParaRPr>
          </a:p>
        </p:txBody>
      </p:sp>
      <p:grpSp>
        <p:nvGrpSpPr>
          <p:cNvPr id="33" name="Group 32" descr="Small circle with number 2 inside  indicating step 2"/>
          <p:cNvGrpSpPr/>
          <p:nvPr/>
        </p:nvGrpSpPr>
        <p:grpSpPr bwMode="blackWhite">
          <a:xfrm>
            <a:off x="527574" y="2248570"/>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7868" y="2260546"/>
            <a:ext cx="5038131" cy="39672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book_Code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is a foreign key value from Books table</a:t>
            </a:r>
          </a:p>
        </p:txBody>
      </p:sp>
      <p:grpSp>
        <p:nvGrpSpPr>
          <p:cNvPr id="22" name="Group 21" descr="Small circle with number 3 inside  indicating step 3"/>
          <p:cNvGrpSpPr/>
          <p:nvPr/>
        </p:nvGrpSpPr>
        <p:grpSpPr bwMode="blackWhite">
          <a:xfrm>
            <a:off x="541609" y="277036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7868" y="2620474"/>
            <a:ext cx="5398153" cy="71615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issued_By</a:t>
            </a:r>
            <a:r>
              <a:rPr lang="en-US" b="1" dirty="0">
                <a:solidFill>
                  <a:schemeClr val="accent5">
                    <a:lumMod val="75000"/>
                  </a:schemeClr>
                </a:solidFill>
                <a:latin typeface="Segoe UI" panose="020B0502040204020203" pitchFamily="34" charset="0"/>
                <a:cs typeface="Segoe UI" panose="020B0502040204020203" pitchFamily="34" charset="0"/>
              </a:rPr>
              <a:t> &amp; </a:t>
            </a:r>
            <a:r>
              <a:rPr lang="en-US" b="1" dirty="0" err="1">
                <a:solidFill>
                  <a:schemeClr val="accent5">
                    <a:lumMod val="75000"/>
                  </a:schemeClr>
                </a:solidFill>
                <a:latin typeface="Segoe UI" panose="020B0502040204020203" pitchFamily="34" charset="0"/>
                <a:cs typeface="Segoe UI" panose="020B0502040204020203" pitchFamily="34" charset="0"/>
              </a:rPr>
              <a:t>issued_To</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be alpha-numeric values as they are the </a:t>
            </a:r>
            <a:r>
              <a:rPr lang="en-US" b="1" i="1" dirty="0">
                <a:solidFill>
                  <a:schemeClr val="tx1"/>
                </a:solidFill>
                <a:latin typeface="Segoe UI" panose="020B0502040204020203" pitchFamily="34" charset="0"/>
                <a:cs typeface="Segoe UI" panose="020B0502040204020203" pitchFamily="34" charset="0"/>
              </a:rPr>
              <a:t>foreign key values </a:t>
            </a:r>
            <a:r>
              <a:rPr lang="en-US" dirty="0">
                <a:solidFill>
                  <a:schemeClr val="tx1"/>
                </a:solidFill>
                <a:latin typeface="Segoe UI" panose="020B0502040204020203" pitchFamily="34" charset="0"/>
                <a:cs typeface="Segoe UI" panose="020B0502040204020203" pitchFamily="34" charset="0"/>
              </a:rPr>
              <a:t>of the </a:t>
            </a:r>
            <a:r>
              <a:rPr lang="en-US" b="1" dirty="0">
                <a:solidFill>
                  <a:schemeClr val="tx1"/>
                </a:solidFill>
                <a:latin typeface="Segoe UI" panose="020B0502040204020203" pitchFamily="34" charset="0"/>
                <a:cs typeface="Segoe UI" panose="020B0502040204020203" pitchFamily="34" charset="0"/>
              </a:rPr>
              <a:t>Librarian &amp; Users’ registration numbers</a:t>
            </a:r>
            <a:endParaRPr lang="en-US" b="1" dirty="0">
              <a:solidFill>
                <a:prstClr val="black">
                  <a:lumMod val="75000"/>
                  <a:lumOff val="25000"/>
                </a:prstClr>
              </a:solidFill>
              <a:latin typeface="Segoe UI" panose="020B0502040204020203" pitchFamily="34" charset="0"/>
              <a:cs typeface="Segoe UI" panose="020B0502040204020203" pitchFamily="34" charset="0"/>
            </a:endParaRPr>
          </a:p>
        </p:txBody>
      </p:sp>
      <p:grpSp>
        <p:nvGrpSpPr>
          <p:cNvPr id="37" name="Group 36" descr="Small circle with number 4 inside  indicating step 4"/>
          <p:cNvGrpSpPr/>
          <p:nvPr/>
        </p:nvGrpSpPr>
        <p:grpSpPr bwMode="blackWhite">
          <a:xfrm>
            <a:off x="541609" y="3321650"/>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48289" y="3217691"/>
            <a:ext cx="4504252" cy="53968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issued_Date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be as per it was </a:t>
            </a:r>
            <a:r>
              <a:rPr lang="en-US" b="1" dirty="0" err="1">
                <a:solidFill>
                  <a:srgbClr val="0070C0"/>
                </a:solidFill>
                <a:latin typeface="Segoe UI" panose="020B0502040204020203" pitchFamily="34" charset="0"/>
                <a:cs typeface="Segoe UI" panose="020B0502040204020203" pitchFamily="34" charset="0"/>
              </a:rPr>
              <a:t>issued_Date</a:t>
            </a:r>
            <a:r>
              <a:rPr lang="en-US" b="1" dirty="0">
                <a:solidFill>
                  <a:srgbClr val="0070C0"/>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in Books table before the return of the particular book.</a:t>
            </a:r>
            <a:r>
              <a:rPr lang="en-US" b="1" dirty="0">
                <a:solidFill>
                  <a:schemeClr val="accent5">
                    <a:lumMod val="75000"/>
                  </a:schemeClr>
                </a:solidFill>
                <a:latin typeface="Segoe UI" panose="020B0502040204020203" pitchFamily="34" charset="0"/>
                <a:cs typeface="Segoe UI" panose="020B0502040204020203" pitchFamily="34" charset="0"/>
              </a:rPr>
              <a:t> </a:t>
            </a:r>
            <a:endParaRPr lang="en-US" dirty="0">
              <a:solidFill>
                <a:schemeClr val="tx1"/>
              </a:solidFill>
              <a:latin typeface="Segoe UI" panose="020B0502040204020203" pitchFamily="34" charset="0"/>
              <a:cs typeface="Segoe UI" panose="020B0502040204020203" pitchFamily="34" charset="0"/>
            </a:endParaRPr>
          </a:p>
        </p:txBody>
      </p:sp>
      <p:grpSp>
        <p:nvGrpSpPr>
          <p:cNvPr id="26" name="Group 25" descr="Small circle with number 2 inside  indicating step 2">
            <a:extLst>
              <a:ext uri="{FF2B5EF4-FFF2-40B4-BE49-F238E27FC236}">
                <a16:creationId xmlns:a16="http://schemas.microsoft.com/office/drawing/2014/main" id="{0BB201BE-B6D9-42B1-AA0B-71C7F81735CD}"/>
              </a:ext>
            </a:extLst>
          </p:cNvPr>
          <p:cNvGrpSpPr/>
          <p:nvPr/>
        </p:nvGrpSpPr>
        <p:grpSpPr bwMode="blackWhite">
          <a:xfrm>
            <a:off x="542965" y="3845185"/>
            <a:ext cx="558179" cy="409838"/>
            <a:chOff x="6953426" y="711274"/>
            <a:chExt cx="558179" cy="409838"/>
          </a:xfrm>
        </p:grpSpPr>
        <p:sp>
          <p:nvSpPr>
            <p:cNvPr id="27" name="Oval 26" descr="Small circle">
              <a:extLst>
                <a:ext uri="{FF2B5EF4-FFF2-40B4-BE49-F238E27FC236}">
                  <a16:creationId xmlns:a16="http://schemas.microsoft.com/office/drawing/2014/main" id="{0E1572F9-49F1-4F3E-901C-BAE71BAB60C0}"/>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2">
              <a:extLst>
                <a:ext uri="{FF2B5EF4-FFF2-40B4-BE49-F238E27FC236}">
                  <a16:creationId xmlns:a16="http://schemas.microsoft.com/office/drawing/2014/main" id="{CAD591E5-EDEF-4EA0-AD5E-8402B036523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5</a:t>
              </a:r>
            </a:p>
          </p:txBody>
        </p:sp>
      </p:grpSp>
      <p:sp>
        <p:nvSpPr>
          <p:cNvPr id="31" name="Content Placeholder 17">
            <a:extLst>
              <a:ext uri="{FF2B5EF4-FFF2-40B4-BE49-F238E27FC236}">
                <a16:creationId xmlns:a16="http://schemas.microsoft.com/office/drawing/2014/main" id="{6EE4E201-E088-4A08-A821-2E2C7C3DEDAA}"/>
              </a:ext>
            </a:extLst>
          </p:cNvPr>
          <p:cNvSpPr txBox="1">
            <a:spLocks/>
          </p:cNvSpPr>
          <p:nvPr/>
        </p:nvSpPr>
        <p:spPr>
          <a:xfrm>
            <a:off x="1057868" y="3756496"/>
            <a:ext cx="5097145" cy="62179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received_By</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would be alpha-numeric values as they are the </a:t>
            </a:r>
            <a:r>
              <a:rPr lang="en-US" b="1" i="1" dirty="0">
                <a:solidFill>
                  <a:schemeClr val="tx1"/>
                </a:solidFill>
                <a:latin typeface="Segoe UI" panose="020B0502040204020203" pitchFamily="34" charset="0"/>
                <a:cs typeface="Segoe UI" panose="020B0502040204020203" pitchFamily="34" charset="0"/>
              </a:rPr>
              <a:t>foreign key values </a:t>
            </a:r>
            <a:r>
              <a:rPr lang="en-US" dirty="0">
                <a:solidFill>
                  <a:schemeClr val="tx1"/>
                </a:solidFill>
                <a:latin typeface="Segoe UI" panose="020B0502040204020203" pitchFamily="34" charset="0"/>
                <a:cs typeface="Segoe UI" panose="020B0502040204020203" pitchFamily="34" charset="0"/>
              </a:rPr>
              <a:t>of the </a:t>
            </a:r>
            <a:r>
              <a:rPr lang="en-US" b="1" dirty="0">
                <a:solidFill>
                  <a:schemeClr val="tx1"/>
                </a:solidFill>
                <a:latin typeface="Segoe UI" panose="020B0502040204020203" pitchFamily="34" charset="0"/>
                <a:cs typeface="Segoe UI" panose="020B0502040204020203" pitchFamily="34" charset="0"/>
              </a:rPr>
              <a:t>Librarian registration numbers</a:t>
            </a:r>
            <a:endParaRPr lang="en-US" b="1" dirty="0">
              <a:solidFill>
                <a:prstClr val="black">
                  <a:lumMod val="75000"/>
                  <a:lumOff val="25000"/>
                </a:prstClr>
              </a:solidFill>
              <a:latin typeface="Segoe UI" panose="020B0502040204020203" pitchFamily="34" charset="0"/>
              <a:cs typeface="Segoe UI" panose="020B0502040204020203" pitchFamily="34" charset="0"/>
            </a:endParaRPr>
          </a:p>
        </p:txBody>
      </p:sp>
      <p:grpSp>
        <p:nvGrpSpPr>
          <p:cNvPr id="41" name="Group 40" descr="Small circle with number 3 inside  indicating step 3">
            <a:extLst>
              <a:ext uri="{FF2B5EF4-FFF2-40B4-BE49-F238E27FC236}">
                <a16:creationId xmlns:a16="http://schemas.microsoft.com/office/drawing/2014/main" id="{B3C6982C-224D-45DF-A582-4CF82783975F}"/>
              </a:ext>
            </a:extLst>
          </p:cNvPr>
          <p:cNvGrpSpPr/>
          <p:nvPr/>
        </p:nvGrpSpPr>
        <p:grpSpPr bwMode="blackWhite">
          <a:xfrm>
            <a:off x="551797" y="4363317"/>
            <a:ext cx="558179" cy="409838"/>
            <a:chOff x="6953426" y="711274"/>
            <a:chExt cx="558179" cy="409838"/>
          </a:xfrm>
        </p:grpSpPr>
        <p:sp>
          <p:nvSpPr>
            <p:cNvPr id="42" name="Oval 41" descr="Small circle">
              <a:extLst>
                <a:ext uri="{FF2B5EF4-FFF2-40B4-BE49-F238E27FC236}">
                  <a16:creationId xmlns:a16="http://schemas.microsoft.com/office/drawing/2014/main" id="{30EFD12D-FCED-4BC8-8844-C58257B64D9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descr="Number 3">
              <a:extLst>
                <a:ext uri="{FF2B5EF4-FFF2-40B4-BE49-F238E27FC236}">
                  <a16:creationId xmlns:a16="http://schemas.microsoft.com/office/drawing/2014/main" id="{AADCD949-7796-4148-A7C3-0FC019C4D541}"/>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6</a:t>
              </a:r>
            </a:p>
          </p:txBody>
        </p:sp>
      </p:grpSp>
      <p:sp>
        <p:nvSpPr>
          <p:cNvPr id="44" name="Content Placeholder 17">
            <a:extLst>
              <a:ext uri="{FF2B5EF4-FFF2-40B4-BE49-F238E27FC236}">
                <a16:creationId xmlns:a16="http://schemas.microsoft.com/office/drawing/2014/main" id="{6E2B5E08-E805-4007-B85C-1CEC18A18DFB}"/>
              </a:ext>
            </a:extLst>
          </p:cNvPr>
          <p:cNvSpPr txBox="1">
            <a:spLocks/>
          </p:cNvSpPr>
          <p:nvPr/>
        </p:nvSpPr>
        <p:spPr>
          <a:xfrm>
            <a:off x="1033278" y="4307812"/>
            <a:ext cx="4608966" cy="62179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return_Date</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Date of the return of the book by user. (The current date – today()</a:t>
            </a:r>
            <a:endParaRPr lang="en-US" dirty="0">
              <a:solidFill>
                <a:prstClr val="black">
                  <a:lumMod val="75000"/>
                  <a:lumOff val="25000"/>
                </a:prstClr>
              </a:solidFill>
              <a:cs typeface="Segoe UI"/>
            </a:endParaRPr>
          </a:p>
        </p:txBody>
      </p:sp>
      <p:grpSp>
        <p:nvGrpSpPr>
          <p:cNvPr id="45" name="Group 44" descr="Small circle with number 4 inside  indicating step 4">
            <a:extLst>
              <a:ext uri="{FF2B5EF4-FFF2-40B4-BE49-F238E27FC236}">
                <a16:creationId xmlns:a16="http://schemas.microsoft.com/office/drawing/2014/main" id="{441AC9F1-3546-49BA-8051-4D126062955B}"/>
              </a:ext>
            </a:extLst>
          </p:cNvPr>
          <p:cNvGrpSpPr/>
          <p:nvPr/>
        </p:nvGrpSpPr>
        <p:grpSpPr bwMode="blackWhite">
          <a:xfrm>
            <a:off x="541609" y="4905665"/>
            <a:ext cx="558179" cy="409838"/>
            <a:chOff x="6953426" y="711274"/>
            <a:chExt cx="558179" cy="409838"/>
          </a:xfrm>
        </p:grpSpPr>
        <p:sp>
          <p:nvSpPr>
            <p:cNvPr id="46" name="Oval 45" descr="Small circle">
              <a:extLst>
                <a:ext uri="{FF2B5EF4-FFF2-40B4-BE49-F238E27FC236}">
                  <a16:creationId xmlns:a16="http://schemas.microsoft.com/office/drawing/2014/main" id="{6F2ED958-E558-4785-B45D-310A07B4461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descr="Number 4">
              <a:extLst>
                <a:ext uri="{FF2B5EF4-FFF2-40B4-BE49-F238E27FC236}">
                  <a16:creationId xmlns:a16="http://schemas.microsoft.com/office/drawing/2014/main" id="{633212C9-F5EB-444A-9C93-C797F065F85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7</a:t>
              </a:r>
            </a:p>
          </p:txBody>
        </p:sp>
      </p:grpSp>
      <p:sp>
        <p:nvSpPr>
          <p:cNvPr id="48" name="Content Placeholder 17">
            <a:extLst>
              <a:ext uri="{FF2B5EF4-FFF2-40B4-BE49-F238E27FC236}">
                <a16:creationId xmlns:a16="http://schemas.microsoft.com/office/drawing/2014/main" id="{7356F803-3030-426E-9E29-BB2F987ED4B4}"/>
              </a:ext>
            </a:extLst>
          </p:cNvPr>
          <p:cNvSpPr txBox="1">
            <a:spLocks/>
          </p:cNvSpPr>
          <p:nvPr/>
        </p:nvSpPr>
        <p:spPr>
          <a:xfrm>
            <a:off x="1030749" y="4895119"/>
            <a:ext cx="5065249" cy="6417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b="1" dirty="0" err="1">
                <a:solidFill>
                  <a:schemeClr val="accent5">
                    <a:lumMod val="75000"/>
                  </a:schemeClr>
                </a:solidFill>
                <a:latin typeface="Segoe UI" panose="020B0502040204020203" pitchFamily="34" charset="0"/>
                <a:cs typeface="Segoe UI" panose="020B0502040204020203" pitchFamily="34" charset="0"/>
              </a:rPr>
              <a:t>amount_Paid</a:t>
            </a:r>
            <a:r>
              <a:rPr lang="en-US" b="1" dirty="0">
                <a:solidFill>
                  <a:schemeClr val="accent5">
                    <a:lumMod val="75000"/>
                  </a:schemeClr>
                </a:solidFill>
                <a:latin typeface="Segoe UI" panose="020B0502040204020203" pitchFamily="34" charset="0"/>
                <a:cs typeface="Segoe UI" panose="020B0502040204020203" pitchFamily="34" charset="0"/>
              </a:rPr>
              <a:t> </a:t>
            </a:r>
            <a:r>
              <a:rPr lang="en-US" dirty="0">
                <a:solidFill>
                  <a:schemeClr val="tx1"/>
                </a:solidFill>
                <a:latin typeface="Segoe UI" panose="020B0502040204020203" pitchFamily="34" charset="0"/>
                <a:cs typeface="Segoe UI" panose="020B0502040204020203" pitchFamily="34" charset="0"/>
              </a:rPr>
              <a:t>is of REAL type as it stores the amount paid by the user including the fine amount. </a:t>
            </a:r>
            <a:endParaRPr lang="en-US" dirty="0">
              <a:solidFill>
                <a:schemeClr val="tx1"/>
              </a:solidFill>
              <a:cs typeface="Segoe UI"/>
            </a:endParaRPr>
          </a:p>
        </p:txBody>
      </p:sp>
      <p:pic>
        <p:nvPicPr>
          <p:cNvPr id="3" name="Picture 2">
            <a:extLst>
              <a:ext uri="{FF2B5EF4-FFF2-40B4-BE49-F238E27FC236}">
                <a16:creationId xmlns:a16="http://schemas.microsoft.com/office/drawing/2014/main" id="{57365B03-22C5-420E-80D0-C88B4D3E50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5289" y="124287"/>
            <a:ext cx="5826710" cy="6641028"/>
          </a:xfrm>
          <a:prstGeom prst="rect">
            <a:avLst/>
          </a:prstGeom>
        </p:spPr>
      </p:pic>
    </p:spTree>
    <p:extLst>
      <p:ext uri="{BB962C8B-B14F-4D97-AF65-F5344CB8AC3E}">
        <p14:creationId xmlns:p14="http://schemas.microsoft.com/office/powerpoint/2010/main" val="2559047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Activities of a Librarian</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Options after login:</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90"/>
            <a:ext cx="4585731" cy="36933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View the List of books in the System that are available for issuing.</a:t>
            </a:r>
            <a:endParaRPr lang="en-US" dirty="0">
              <a:solidFill>
                <a:prstClr val="black">
                  <a:lumMod val="75000"/>
                  <a:lumOff val="25000"/>
                </a:prstClr>
              </a:solidFill>
              <a:cs typeface="Segoe UI"/>
            </a:endParaRPr>
          </a:p>
        </p:txBody>
      </p:sp>
      <p:grpSp>
        <p:nvGrpSpPr>
          <p:cNvPr id="33" name="Group 32" descr="Small circle with number 2 inside  indicating step 2"/>
          <p:cNvGrpSpPr/>
          <p:nvPr/>
        </p:nvGrpSpPr>
        <p:grpSpPr bwMode="blackWhite">
          <a:xfrm>
            <a:off x="527574" y="2408374"/>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42478" y="2424664"/>
            <a:ext cx="4504252" cy="44038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View Book details of a particular book </a:t>
            </a:r>
          </a:p>
        </p:txBody>
      </p:sp>
      <p:grpSp>
        <p:nvGrpSpPr>
          <p:cNvPr id="22" name="Group 21" descr="Small circle with number 3 inside  indicating step 3"/>
          <p:cNvGrpSpPr/>
          <p:nvPr/>
        </p:nvGrpSpPr>
        <p:grpSpPr bwMode="blackWhite">
          <a:xfrm>
            <a:off x="541609" y="2921295"/>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7869" y="2955866"/>
            <a:ext cx="4504252" cy="4377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Add a new Book to the system by providing the required details </a:t>
            </a:r>
            <a:endParaRPr lang="en-US" dirty="0">
              <a:solidFill>
                <a:prstClr val="black">
                  <a:lumMod val="75000"/>
                  <a:lumOff val="25000"/>
                </a:prstClr>
              </a:solidFill>
              <a:cs typeface="Segoe UI"/>
            </a:endParaRPr>
          </a:p>
        </p:txBody>
      </p:sp>
      <p:grpSp>
        <p:nvGrpSpPr>
          <p:cNvPr id="37" name="Group 36" descr="Small circle with number 4 inside  indicating step 4"/>
          <p:cNvGrpSpPr/>
          <p:nvPr/>
        </p:nvGrpSpPr>
        <p:grpSpPr bwMode="blackWhite">
          <a:xfrm>
            <a:off x="541609" y="3428186"/>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48289" y="3475154"/>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Update details of a book</a:t>
            </a:r>
          </a:p>
        </p:txBody>
      </p:sp>
      <p:pic>
        <p:nvPicPr>
          <p:cNvPr id="3" name="Picture 2" descr="A close up of a logo&#10;&#10;Description automatically generated">
            <a:extLst>
              <a:ext uri="{FF2B5EF4-FFF2-40B4-BE49-F238E27FC236}">
                <a16:creationId xmlns:a16="http://schemas.microsoft.com/office/drawing/2014/main" id="{DBD5F8D5-A27D-46C6-B4B5-84C0FA157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8313" y="226243"/>
            <a:ext cx="6042582" cy="6372519"/>
          </a:xfrm>
          <a:prstGeom prst="rect">
            <a:avLst/>
          </a:prstGeom>
        </p:spPr>
      </p:pic>
      <p:grpSp>
        <p:nvGrpSpPr>
          <p:cNvPr id="26" name="Group 25" descr="Small circle with number 2 inside  indicating step 2">
            <a:extLst>
              <a:ext uri="{FF2B5EF4-FFF2-40B4-BE49-F238E27FC236}">
                <a16:creationId xmlns:a16="http://schemas.microsoft.com/office/drawing/2014/main" id="{0BB201BE-B6D9-42B1-AA0B-71C7F81735CD}"/>
              </a:ext>
            </a:extLst>
          </p:cNvPr>
          <p:cNvGrpSpPr/>
          <p:nvPr/>
        </p:nvGrpSpPr>
        <p:grpSpPr bwMode="blackWhite">
          <a:xfrm>
            <a:off x="542965" y="3942843"/>
            <a:ext cx="558179" cy="409838"/>
            <a:chOff x="6953426" y="711274"/>
            <a:chExt cx="558179" cy="409838"/>
          </a:xfrm>
        </p:grpSpPr>
        <p:sp>
          <p:nvSpPr>
            <p:cNvPr id="27" name="Oval 26" descr="Small circle">
              <a:extLst>
                <a:ext uri="{FF2B5EF4-FFF2-40B4-BE49-F238E27FC236}">
                  <a16:creationId xmlns:a16="http://schemas.microsoft.com/office/drawing/2014/main" id="{0E1572F9-49F1-4F3E-901C-BAE71BAB60C0}"/>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2">
              <a:extLst>
                <a:ext uri="{FF2B5EF4-FFF2-40B4-BE49-F238E27FC236}">
                  <a16:creationId xmlns:a16="http://schemas.microsoft.com/office/drawing/2014/main" id="{CAD591E5-EDEF-4EA0-AD5E-8402B036523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5</a:t>
              </a:r>
            </a:p>
          </p:txBody>
        </p:sp>
      </p:grpSp>
      <p:sp>
        <p:nvSpPr>
          <p:cNvPr id="31" name="Content Placeholder 17">
            <a:extLst>
              <a:ext uri="{FF2B5EF4-FFF2-40B4-BE49-F238E27FC236}">
                <a16:creationId xmlns:a16="http://schemas.microsoft.com/office/drawing/2014/main" id="{6EE4E201-E088-4A08-A821-2E2C7C3DEDAA}"/>
              </a:ext>
            </a:extLst>
          </p:cNvPr>
          <p:cNvSpPr txBox="1">
            <a:spLocks/>
          </p:cNvSpPr>
          <p:nvPr/>
        </p:nvSpPr>
        <p:spPr>
          <a:xfrm>
            <a:off x="1057869" y="3959133"/>
            <a:ext cx="4504252" cy="44038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Delete a book from the system</a:t>
            </a:r>
          </a:p>
        </p:txBody>
      </p:sp>
      <p:grpSp>
        <p:nvGrpSpPr>
          <p:cNvPr id="41" name="Group 40" descr="Small circle with number 3 inside  indicating step 3">
            <a:extLst>
              <a:ext uri="{FF2B5EF4-FFF2-40B4-BE49-F238E27FC236}">
                <a16:creationId xmlns:a16="http://schemas.microsoft.com/office/drawing/2014/main" id="{B3C6982C-224D-45DF-A582-4CF82783975F}"/>
              </a:ext>
            </a:extLst>
          </p:cNvPr>
          <p:cNvGrpSpPr/>
          <p:nvPr/>
        </p:nvGrpSpPr>
        <p:grpSpPr bwMode="blackWhite">
          <a:xfrm>
            <a:off x="551797" y="4558633"/>
            <a:ext cx="558179" cy="409838"/>
            <a:chOff x="6953426" y="711274"/>
            <a:chExt cx="558179" cy="409838"/>
          </a:xfrm>
        </p:grpSpPr>
        <p:sp>
          <p:nvSpPr>
            <p:cNvPr id="42" name="Oval 41" descr="Small circle">
              <a:extLst>
                <a:ext uri="{FF2B5EF4-FFF2-40B4-BE49-F238E27FC236}">
                  <a16:creationId xmlns:a16="http://schemas.microsoft.com/office/drawing/2014/main" id="{30EFD12D-FCED-4BC8-8844-C58257B64D9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descr="Number 3">
              <a:extLst>
                <a:ext uri="{FF2B5EF4-FFF2-40B4-BE49-F238E27FC236}">
                  <a16:creationId xmlns:a16="http://schemas.microsoft.com/office/drawing/2014/main" id="{AADCD949-7796-4148-A7C3-0FC019C4D541}"/>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6</a:t>
              </a:r>
            </a:p>
          </p:txBody>
        </p:sp>
      </p:grpSp>
      <p:sp>
        <p:nvSpPr>
          <p:cNvPr id="44" name="Content Placeholder 17">
            <a:extLst>
              <a:ext uri="{FF2B5EF4-FFF2-40B4-BE49-F238E27FC236}">
                <a16:creationId xmlns:a16="http://schemas.microsoft.com/office/drawing/2014/main" id="{6E2B5E08-E805-4007-B85C-1CEC18A18DFB}"/>
              </a:ext>
            </a:extLst>
          </p:cNvPr>
          <p:cNvSpPr txBox="1">
            <a:spLocks/>
          </p:cNvSpPr>
          <p:nvPr/>
        </p:nvSpPr>
        <p:spPr>
          <a:xfrm>
            <a:off x="1033278" y="4363780"/>
            <a:ext cx="4608966"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Issue a book and update details related to the date of issue, issued to &amp; issued by. Book </a:t>
            </a:r>
            <a:r>
              <a:rPr lang="en-US" b="1" i="1" dirty="0">
                <a:solidFill>
                  <a:prstClr val="black">
                    <a:lumMod val="75000"/>
                    <a:lumOff val="25000"/>
                  </a:prstClr>
                </a:solidFill>
                <a:latin typeface="Segoe UI" panose="020B0502040204020203" pitchFamily="34" charset="0"/>
                <a:cs typeface="Segoe UI" panose="020B0502040204020203" pitchFamily="34" charset="0"/>
              </a:rPr>
              <a:t>Availability status </a:t>
            </a:r>
            <a:r>
              <a:rPr lang="en-US" dirty="0">
                <a:solidFill>
                  <a:prstClr val="black">
                    <a:lumMod val="75000"/>
                    <a:lumOff val="25000"/>
                  </a:prstClr>
                </a:solidFill>
                <a:latin typeface="Segoe UI" panose="020B0502040204020203" pitchFamily="34" charset="0"/>
                <a:cs typeface="Segoe UI" panose="020B0502040204020203" pitchFamily="34" charset="0"/>
              </a:rPr>
              <a:t>is set to ‘</a:t>
            </a:r>
            <a:r>
              <a:rPr lang="en-US" b="1" dirty="0">
                <a:solidFill>
                  <a:srgbClr val="0070C0"/>
                </a:solidFill>
                <a:latin typeface="Segoe UI" panose="020B0502040204020203" pitchFamily="34" charset="0"/>
                <a:cs typeface="Segoe UI" panose="020B0502040204020203" pitchFamily="34" charset="0"/>
              </a:rPr>
              <a:t>NO</a:t>
            </a:r>
            <a:r>
              <a:rPr lang="en-US" dirty="0">
                <a:solidFill>
                  <a:prstClr val="black">
                    <a:lumMod val="75000"/>
                    <a:lumOff val="25000"/>
                  </a:prstClr>
                </a:solidFill>
                <a:latin typeface="Segoe UI" panose="020B0502040204020203" pitchFamily="34" charset="0"/>
                <a:cs typeface="Segoe UI" panose="020B0502040204020203" pitchFamily="34" charset="0"/>
              </a:rPr>
              <a:t>’ once the book is issued.</a:t>
            </a:r>
            <a:r>
              <a:rPr lang="en-US" dirty="0">
                <a:solidFill>
                  <a:prstClr val="black">
                    <a:lumMod val="75000"/>
                    <a:lumOff val="25000"/>
                  </a:prstClr>
                </a:solidFill>
                <a:cs typeface="Segoe UI"/>
              </a:rPr>
              <a:t>.</a:t>
            </a:r>
          </a:p>
        </p:txBody>
      </p:sp>
      <p:grpSp>
        <p:nvGrpSpPr>
          <p:cNvPr id="45" name="Group 44" descr="Small circle with number 4 inside  indicating step 4">
            <a:extLst>
              <a:ext uri="{FF2B5EF4-FFF2-40B4-BE49-F238E27FC236}">
                <a16:creationId xmlns:a16="http://schemas.microsoft.com/office/drawing/2014/main" id="{441AC9F1-3546-49BA-8051-4D126062955B}"/>
              </a:ext>
            </a:extLst>
          </p:cNvPr>
          <p:cNvGrpSpPr/>
          <p:nvPr/>
        </p:nvGrpSpPr>
        <p:grpSpPr bwMode="blackWhite">
          <a:xfrm>
            <a:off x="549269" y="5338445"/>
            <a:ext cx="558179" cy="409838"/>
            <a:chOff x="6953426" y="711274"/>
            <a:chExt cx="558179" cy="409838"/>
          </a:xfrm>
        </p:grpSpPr>
        <p:sp>
          <p:nvSpPr>
            <p:cNvPr id="46" name="Oval 45" descr="Small circle">
              <a:extLst>
                <a:ext uri="{FF2B5EF4-FFF2-40B4-BE49-F238E27FC236}">
                  <a16:creationId xmlns:a16="http://schemas.microsoft.com/office/drawing/2014/main" id="{6F2ED958-E558-4785-B45D-310A07B4461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descr="Number 4">
              <a:extLst>
                <a:ext uri="{FF2B5EF4-FFF2-40B4-BE49-F238E27FC236}">
                  <a16:creationId xmlns:a16="http://schemas.microsoft.com/office/drawing/2014/main" id="{633212C9-F5EB-444A-9C93-C797F065F85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7</a:t>
              </a:r>
            </a:p>
          </p:txBody>
        </p:sp>
      </p:grpSp>
      <p:sp>
        <p:nvSpPr>
          <p:cNvPr id="48" name="Content Placeholder 17">
            <a:extLst>
              <a:ext uri="{FF2B5EF4-FFF2-40B4-BE49-F238E27FC236}">
                <a16:creationId xmlns:a16="http://schemas.microsoft.com/office/drawing/2014/main" id="{7356F803-3030-426E-9E29-BB2F987ED4B4}"/>
              </a:ext>
            </a:extLst>
          </p:cNvPr>
          <p:cNvSpPr txBox="1">
            <a:spLocks/>
          </p:cNvSpPr>
          <p:nvPr/>
        </p:nvSpPr>
        <p:spPr>
          <a:xfrm>
            <a:off x="1030750" y="5124351"/>
            <a:ext cx="4504252" cy="83308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Accept book from User and update details related to the date of return, accepted by &amp; amount paid. Book </a:t>
            </a:r>
            <a:r>
              <a:rPr lang="en-US" b="1" i="1" dirty="0">
                <a:solidFill>
                  <a:prstClr val="black">
                    <a:lumMod val="75000"/>
                    <a:lumOff val="25000"/>
                  </a:prstClr>
                </a:solidFill>
                <a:latin typeface="Segoe UI" panose="020B0502040204020203" pitchFamily="34" charset="0"/>
                <a:cs typeface="Segoe UI" panose="020B0502040204020203" pitchFamily="34" charset="0"/>
              </a:rPr>
              <a:t>Availability status </a:t>
            </a:r>
            <a:r>
              <a:rPr lang="en-US" dirty="0">
                <a:solidFill>
                  <a:prstClr val="black">
                    <a:lumMod val="75000"/>
                    <a:lumOff val="25000"/>
                  </a:prstClr>
                </a:solidFill>
                <a:latin typeface="Segoe UI" panose="020B0502040204020203" pitchFamily="34" charset="0"/>
                <a:cs typeface="Segoe UI" panose="020B0502040204020203" pitchFamily="34" charset="0"/>
              </a:rPr>
              <a:t>is set to ‘</a:t>
            </a:r>
            <a:r>
              <a:rPr lang="en-US" b="1" dirty="0">
                <a:solidFill>
                  <a:srgbClr val="0070C0"/>
                </a:solidFill>
                <a:latin typeface="Segoe UI" panose="020B0502040204020203" pitchFamily="34" charset="0"/>
                <a:cs typeface="Segoe UI" panose="020B0502040204020203" pitchFamily="34" charset="0"/>
              </a:rPr>
              <a:t>YES</a:t>
            </a:r>
            <a:r>
              <a:rPr lang="en-US" dirty="0">
                <a:solidFill>
                  <a:prstClr val="black">
                    <a:lumMod val="75000"/>
                    <a:lumOff val="25000"/>
                  </a:prstClr>
                </a:solidFill>
                <a:latin typeface="Segoe UI" panose="020B0502040204020203" pitchFamily="34" charset="0"/>
                <a:cs typeface="Segoe UI" panose="020B0502040204020203" pitchFamily="34" charset="0"/>
              </a:rPr>
              <a:t>’ once the book is returned.</a:t>
            </a:r>
            <a:r>
              <a:rPr lang="en-US" dirty="0">
                <a:solidFill>
                  <a:prstClr val="black">
                    <a:lumMod val="75000"/>
                    <a:lumOff val="25000"/>
                  </a:prstClr>
                </a:solidFill>
                <a:cs typeface="Segoe UI"/>
              </a:rPr>
              <a:t>.</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Activities of a Librarian</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Options after login:</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8</a:t>
              </a:r>
            </a:p>
          </p:txBody>
        </p:sp>
      </p:grpSp>
      <p:sp>
        <p:nvSpPr>
          <p:cNvPr id="21" name="Content Placeholder 17"/>
          <p:cNvSpPr txBox="1">
            <a:spLocks/>
          </p:cNvSpPr>
          <p:nvPr/>
        </p:nvSpPr>
        <p:spPr>
          <a:xfrm>
            <a:off x="1056513" y="1958190"/>
            <a:ext cx="4585731" cy="36933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cs typeface="Segoe UI"/>
              </a:rPr>
              <a:t>Add a New User to the system</a:t>
            </a:r>
          </a:p>
        </p:txBody>
      </p:sp>
      <p:grpSp>
        <p:nvGrpSpPr>
          <p:cNvPr id="33" name="Group 32" descr="Small circle with number 2 inside  indicating step 2"/>
          <p:cNvGrpSpPr/>
          <p:nvPr/>
        </p:nvGrpSpPr>
        <p:grpSpPr bwMode="blackWhite">
          <a:xfrm>
            <a:off x="527574" y="2408374"/>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9</a:t>
              </a:r>
            </a:p>
          </p:txBody>
        </p:sp>
      </p:grpSp>
      <p:sp>
        <p:nvSpPr>
          <p:cNvPr id="36" name="Content Placeholder 17"/>
          <p:cNvSpPr txBox="1">
            <a:spLocks/>
          </p:cNvSpPr>
          <p:nvPr/>
        </p:nvSpPr>
        <p:spPr>
          <a:xfrm>
            <a:off x="1042478" y="2424664"/>
            <a:ext cx="4504252" cy="44038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Update the User details</a:t>
            </a:r>
          </a:p>
        </p:txBody>
      </p:sp>
      <p:grpSp>
        <p:nvGrpSpPr>
          <p:cNvPr id="22" name="Group 21" descr="Small circle with number 3 inside  indicating step 3"/>
          <p:cNvGrpSpPr/>
          <p:nvPr/>
        </p:nvGrpSpPr>
        <p:grpSpPr bwMode="blackWhite">
          <a:xfrm>
            <a:off x="541609" y="2921295"/>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10</a:t>
              </a:r>
            </a:p>
          </p:txBody>
        </p:sp>
      </p:grpSp>
      <p:sp>
        <p:nvSpPr>
          <p:cNvPr id="32" name="Content Placeholder 17"/>
          <p:cNvSpPr txBox="1">
            <a:spLocks/>
          </p:cNvSpPr>
          <p:nvPr/>
        </p:nvSpPr>
        <p:spPr>
          <a:xfrm>
            <a:off x="1057869" y="2865050"/>
            <a:ext cx="4504252" cy="52856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Delete a particular User from the system. Their Registration number would be unique forever</a:t>
            </a:r>
            <a:endParaRPr lang="en-US" dirty="0">
              <a:solidFill>
                <a:prstClr val="black">
                  <a:lumMod val="75000"/>
                  <a:lumOff val="25000"/>
                </a:prstClr>
              </a:solidFill>
              <a:cs typeface="Segoe UI"/>
            </a:endParaRPr>
          </a:p>
        </p:txBody>
      </p:sp>
      <p:grpSp>
        <p:nvGrpSpPr>
          <p:cNvPr id="37" name="Group 36" descr="Small circle with number 4 inside  indicating step 4"/>
          <p:cNvGrpSpPr/>
          <p:nvPr/>
        </p:nvGrpSpPr>
        <p:grpSpPr bwMode="blackWhite">
          <a:xfrm>
            <a:off x="541609" y="3428186"/>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11</a:t>
              </a:r>
            </a:p>
          </p:txBody>
        </p:sp>
      </p:grpSp>
      <p:sp>
        <p:nvSpPr>
          <p:cNvPr id="40" name="Content Placeholder 17"/>
          <p:cNvSpPr txBox="1">
            <a:spLocks/>
          </p:cNvSpPr>
          <p:nvPr/>
        </p:nvSpPr>
        <p:spPr>
          <a:xfrm>
            <a:off x="1048289" y="3475154"/>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Add another Librarian to the system</a:t>
            </a:r>
          </a:p>
        </p:txBody>
      </p:sp>
      <p:pic>
        <p:nvPicPr>
          <p:cNvPr id="3" name="Picture 2" descr="A close up of a logo&#10;&#10;Description automatically generated">
            <a:extLst>
              <a:ext uri="{FF2B5EF4-FFF2-40B4-BE49-F238E27FC236}">
                <a16:creationId xmlns:a16="http://schemas.microsoft.com/office/drawing/2014/main" id="{DBD5F8D5-A27D-46C6-B4B5-84C0FA157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8313" y="226243"/>
            <a:ext cx="6042582" cy="6372519"/>
          </a:xfrm>
          <a:prstGeom prst="rect">
            <a:avLst/>
          </a:prstGeom>
        </p:spPr>
      </p:pic>
      <p:grpSp>
        <p:nvGrpSpPr>
          <p:cNvPr id="26" name="Group 25" descr="Small circle with number 2 inside  indicating step 2">
            <a:extLst>
              <a:ext uri="{FF2B5EF4-FFF2-40B4-BE49-F238E27FC236}">
                <a16:creationId xmlns:a16="http://schemas.microsoft.com/office/drawing/2014/main" id="{0BB201BE-B6D9-42B1-AA0B-71C7F81735CD}"/>
              </a:ext>
            </a:extLst>
          </p:cNvPr>
          <p:cNvGrpSpPr/>
          <p:nvPr/>
        </p:nvGrpSpPr>
        <p:grpSpPr bwMode="blackWhite">
          <a:xfrm>
            <a:off x="542965" y="3942843"/>
            <a:ext cx="558179" cy="409838"/>
            <a:chOff x="6953426" y="711274"/>
            <a:chExt cx="558179" cy="409838"/>
          </a:xfrm>
        </p:grpSpPr>
        <p:sp>
          <p:nvSpPr>
            <p:cNvPr id="27" name="Oval 26" descr="Small circle">
              <a:extLst>
                <a:ext uri="{FF2B5EF4-FFF2-40B4-BE49-F238E27FC236}">
                  <a16:creationId xmlns:a16="http://schemas.microsoft.com/office/drawing/2014/main" id="{0E1572F9-49F1-4F3E-901C-BAE71BAB60C0}"/>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2">
              <a:extLst>
                <a:ext uri="{FF2B5EF4-FFF2-40B4-BE49-F238E27FC236}">
                  <a16:creationId xmlns:a16="http://schemas.microsoft.com/office/drawing/2014/main" id="{CAD591E5-EDEF-4EA0-AD5E-8402B036523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12</a:t>
              </a:r>
            </a:p>
          </p:txBody>
        </p:sp>
      </p:grpSp>
      <p:sp>
        <p:nvSpPr>
          <p:cNvPr id="31" name="Content Placeholder 17">
            <a:extLst>
              <a:ext uri="{FF2B5EF4-FFF2-40B4-BE49-F238E27FC236}">
                <a16:creationId xmlns:a16="http://schemas.microsoft.com/office/drawing/2014/main" id="{6EE4E201-E088-4A08-A821-2E2C7C3DEDAA}"/>
              </a:ext>
            </a:extLst>
          </p:cNvPr>
          <p:cNvSpPr txBox="1">
            <a:spLocks/>
          </p:cNvSpPr>
          <p:nvPr/>
        </p:nvSpPr>
        <p:spPr>
          <a:xfrm>
            <a:off x="1057869" y="3959133"/>
            <a:ext cx="4504252" cy="44038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Update Librarian details</a:t>
            </a:r>
          </a:p>
        </p:txBody>
      </p:sp>
      <p:grpSp>
        <p:nvGrpSpPr>
          <p:cNvPr id="41" name="Group 40" descr="Small circle with number 3 inside  indicating step 3">
            <a:extLst>
              <a:ext uri="{FF2B5EF4-FFF2-40B4-BE49-F238E27FC236}">
                <a16:creationId xmlns:a16="http://schemas.microsoft.com/office/drawing/2014/main" id="{B3C6982C-224D-45DF-A582-4CF82783975F}"/>
              </a:ext>
            </a:extLst>
          </p:cNvPr>
          <p:cNvGrpSpPr/>
          <p:nvPr/>
        </p:nvGrpSpPr>
        <p:grpSpPr bwMode="blackWhite">
          <a:xfrm>
            <a:off x="551797" y="4530352"/>
            <a:ext cx="558179" cy="409838"/>
            <a:chOff x="6953426" y="711274"/>
            <a:chExt cx="558179" cy="409838"/>
          </a:xfrm>
        </p:grpSpPr>
        <p:sp>
          <p:nvSpPr>
            <p:cNvPr id="42" name="Oval 41" descr="Small circle">
              <a:extLst>
                <a:ext uri="{FF2B5EF4-FFF2-40B4-BE49-F238E27FC236}">
                  <a16:creationId xmlns:a16="http://schemas.microsoft.com/office/drawing/2014/main" id="{30EFD12D-FCED-4BC8-8844-C58257B64D9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descr="Number 3">
              <a:extLst>
                <a:ext uri="{FF2B5EF4-FFF2-40B4-BE49-F238E27FC236}">
                  <a16:creationId xmlns:a16="http://schemas.microsoft.com/office/drawing/2014/main" id="{AADCD949-7796-4148-A7C3-0FC019C4D541}"/>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13</a:t>
              </a:r>
            </a:p>
          </p:txBody>
        </p:sp>
      </p:grpSp>
      <p:sp>
        <p:nvSpPr>
          <p:cNvPr id="44" name="Content Placeholder 17">
            <a:extLst>
              <a:ext uri="{FF2B5EF4-FFF2-40B4-BE49-F238E27FC236}">
                <a16:creationId xmlns:a16="http://schemas.microsoft.com/office/drawing/2014/main" id="{6E2B5E08-E805-4007-B85C-1CEC18A18DFB}"/>
              </a:ext>
            </a:extLst>
          </p:cNvPr>
          <p:cNvSpPr txBox="1">
            <a:spLocks/>
          </p:cNvSpPr>
          <p:nvPr/>
        </p:nvSpPr>
        <p:spPr>
          <a:xfrm>
            <a:off x="1042477" y="4457707"/>
            <a:ext cx="4570783"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Delete a Librarian. </a:t>
            </a:r>
            <a:r>
              <a:rPr lang="en-US" b="1" i="1" dirty="0">
                <a:solidFill>
                  <a:prstClr val="black">
                    <a:lumMod val="75000"/>
                    <a:lumOff val="25000"/>
                  </a:prstClr>
                </a:solidFill>
                <a:latin typeface="Segoe UI" panose="020B0502040204020203" pitchFamily="34" charset="0"/>
                <a:cs typeface="Segoe UI" panose="020B0502040204020203" pitchFamily="34" charset="0"/>
              </a:rPr>
              <a:t>A Librarian cannot delete his own account! The system checks for this and does not allow to do so</a:t>
            </a:r>
            <a:endParaRPr lang="en-US" b="1" i="1" dirty="0">
              <a:solidFill>
                <a:prstClr val="black">
                  <a:lumMod val="75000"/>
                  <a:lumOff val="25000"/>
                </a:prstClr>
              </a:solidFill>
              <a:cs typeface="Segoe UI"/>
            </a:endParaRPr>
          </a:p>
        </p:txBody>
      </p:sp>
      <p:grpSp>
        <p:nvGrpSpPr>
          <p:cNvPr id="45" name="Group 44" descr="Small circle with number 4 inside  indicating step 4">
            <a:extLst>
              <a:ext uri="{FF2B5EF4-FFF2-40B4-BE49-F238E27FC236}">
                <a16:creationId xmlns:a16="http://schemas.microsoft.com/office/drawing/2014/main" id="{441AC9F1-3546-49BA-8051-4D126062955B}"/>
              </a:ext>
            </a:extLst>
          </p:cNvPr>
          <p:cNvGrpSpPr/>
          <p:nvPr/>
        </p:nvGrpSpPr>
        <p:grpSpPr bwMode="blackWhite">
          <a:xfrm>
            <a:off x="549269" y="5338445"/>
            <a:ext cx="558179" cy="409838"/>
            <a:chOff x="6953426" y="711274"/>
            <a:chExt cx="558179" cy="409838"/>
          </a:xfrm>
        </p:grpSpPr>
        <p:sp>
          <p:nvSpPr>
            <p:cNvPr id="46" name="Oval 45" descr="Small circle">
              <a:extLst>
                <a:ext uri="{FF2B5EF4-FFF2-40B4-BE49-F238E27FC236}">
                  <a16:creationId xmlns:a16="http://schemas.microsoft.com/office/drawing/2014/main" id="{6F2ED958-E558-4785-B45D-310A07B4461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descr="Number 4">
              <a:extLst>
                <a:ext uri="{FF2B5EF4-FFF2-40B4-BE49-F238E27FC236}">
                  <a16:creationId xmlns:a16="http://schemas.microsoft.com/office/drawing/2014/main" id="{633212C9-F5EB-444A-9C93-C797F065F85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14</a:t>
              </a:r>
            </a:p>
          </p:txBody>
        </p:sp>
      </p:grpSp>
      <p:sp>
        <p:nvSpPr>
          <p:cNvPr id="48" name="Content Placeholder 17">
            <a:extLst>
              <a:ext uri="{FF2B5EF4-FFF2-40B4-BE49-F238E27FC236}">
                <a16:creationId xmlns:a16="http://schemas.microsoft.com/office/drawing/2014/main" id="{7356F803-3030-426E-9E29-BB2F987ED4B4}"/>
              </a:ext>
            </a:extLst>
          </p:cNvPr>
          <p:cNvSpPr txBox="1">
            <a:spLocks/>
          </p:cNvSpPr>
          <p:nvPr/>
        </p:nvSpPr>
        <p:spPr>
          <a:xfrm>
            <a:off x="1030750" y="5124351"/>
            <a:ext cx="4285968" cy="118363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View the amount to be paid by the user. The fine amount is calculated based on the requirement as mentioned. The fine amount will be cumulative after every 5 days after the first 20 days</a:t>
            </a:r>
            <a:endParaRPr lang="en-US" dirty="0">
              <a:solidFill>
                <a:prstClr val="black">
                  <a:lumMod val="75000"/>
                  <a:lumOff val="25000"/>
                </a:prstClr>
              </a:solidFill>
              <a:cs typeface="Segoe UI"/>
            </a:endParaRPr>
          </a:p>
        </p:txBody>
      </p:sp>
    </p:spTree>
    <p:extLst>
      <p:ext uri="{BB962C8B-B14F-4D97-AF65-F5344CB8AC3E}">
        <p14:creationId xmlns:p14="http://schemas.microsoft.com/office/powerpoint/2010/main" val="667480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Solution</a:t>
            </a:r>
          </a:p>
        </p:txBody>
      </p:sp>
      <p:sp>
        <p:nvSpPr>
          <p:cNvPr id="5" name="Content Placeholder 4"/>
          <p:cNvSpPr>
            <a:spLocks noGrp="1"/>
          </p:cNvSpPr>
          <p:nvPr>
            <p:ph sz="half" idx="4294967295"/>
          </p:nvPr>
        </p:nvSpPr>
        <p:spPr>
          <a:xfrm>
            <a:off x="521207" y="1201776"/>
            <a:ext cx="5326145" cy="5434270"/>
          </a:xfrm>
        </p:spPr>
        <p:txBody>
          <a:bodyPr vert="horz" lIns="91440" tIns="45720" rIns="91440" bIns="45720" rtlCol="0">
            <a:normAutofit/>
          </a:bodyPr>
          <a:lstStyle/>
          <a:p>
            <a:pPr marL="0" indent="0">
              <a:lnSpc>
                <a:spcPts val="1800"/>
              </a:lnSpc>
              <a:spcBef>
                <a:spcPts val="1000"/>
              </a:spcBef>
              <a:spcAft>
                <a:spcPts val="6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a:t>
            </a:r>
            <a:r>
              <a:rPr lang="en-US" dirty="0" err="1">
                <a:solidFill>
                  <a:prstClr val="black">
                    <a:lumMod val="75000"/>
                    <a:lumOff val="25000"/>
                  </a:prstClr>
                </a:solidFill>
                <a:latin typeface="Segoe UI" panose="020B0502040204020203" pitchFamily="34" charset="0"/>
                <a:cs typeface="Segoe UI" panose="020B0502040204020203" pitchFamily="34" charset="0"/>
              </a:rPr>
              <a:t>execusion</a:t>
            </a:r>
            <a:r>
              <a:rPr lang="en-US" dirty="0">
                <a:solidFill>
                  <a:prstClr val="black">
                    <a:lumMod val="75000"/>
                    <a:lumOff val="25000"/>
                  </a:prstClr>
                </a:solidFill>
                <a:latin typeface="Segoe UI" panose="020B0502040204020203" pitchFamily="34" charset="0"/>
                <a:cs typeface="Segoe UI" panose="020B0502040204020203" pitchFamily="34" charset="0"/>
              </a:rPr>
              <a:t> for the project start with the login page.</a:t>
            </a:r>
          </a:p>
          <a:p>
            <a:pPr>
              <a:lnSpc>
                <a:spcPts val="1800"/>
              </a:lnSpc>
              <a:spcAft>
                <a:spcPts val="600"/>
              </a:spcAft>
            </a:pPr>
            <a:r>
              <a:rPr lang="en-US" sz="1200" dirty="0">
                <a:solidFill>
                  <a:prstClr val="black">
                    <a:lumMod val="75000"/>
                    <a:lumOff val="25000"/>
                  </a:prstClr>
                </a:solidFill>
                <a:latin typeface="Segoe UI" panose="020B0502040204020203" pitchFamily="34" charset="0"/>
                <a:cs typeface="Segoe UI" panose="020B0502040204020203" pitchFamily="34" charset="0"/>
              </a:rPr>
              <a:t>The </a:t>
            </a:r>
            <a:r>
              <a:rPr lang="en-US" dirty="0">
                <a:solidFill>
                  <a:prstClr val="black">
                    <a:lumMod val="75000"/>
                    <a:lumOff val="25000"/>
                  </a:prstClr>
                </a:solidFill>
                <a:latin typeface="Segoe UI" panose="020B0502040204020203" pitchFamily="34" charset="0"/>
                <a:cs typeface="Segoe UI" panose="020B0502040204020203" pitchFamily="34" charset="0"/>
              </a:rPr>
              <a:t>Login ID </a:t>
            </a:r>
            <a:r>
              <a:rPr lang="en-US" sz="1200" dirty="0">
                <a:solidFill>
                  <a:prstClr val="black">
                    <a:lumMod val="75000"/>
                    <a:lumOff val="25000"/>
                  </a:prstClr>
                </a:solidFill>
                <a:latin typeface="Segoe UI" panose="020B0502040204020203" pitchFamily="34" charset="0"/>
                <a:cs typeface="Segoe UI" panose="020B0502040204020203" pitchFamily="34" charset="0"/>
              </a:rPr>
              <a:t>&amp; password is entered and</a:t>
            </a:r>
            <a:r>
              <a:rPr lang="en-US" dirty="0">
                <a:solidFill>
                  <a:prstClr val="black">
                    <a:lumMod val="75000"/>
                    <a:lumOff val="25000"/>
                  </a:prstClr>
                </a:solidFill>
                <a:latin typeface="Segoe UI" panose="020B0502040204020203" pitchFamily="34" charset="0"/>
                <a:cs typeface="Segoe UI" panose="020B0502040204020203" pitchFamily="34" charset="0"/>
              </a:rPr>
              <a:t> the system checks for the validity of the user. </a:t>
            </a:r>
          </a:p>
          <a:p>
            <a:pPr marL="0" indent="0">
              <a:lnSpc>
                <a:spcPts val="1800"/>
              </a:lnSpc>
              <a:spcBef>
                <a:spcPts val="1000"/>
              </a:spcBef>
              <a:spcAft>
                <a:spcPts val="6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Login ID is checked for the alphabet it starts with. </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If Login ID starts with ‘U’, it would be considered that the User is using the system and login credentials are checked at the Users table in DB. </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Valid User would be led to User view page where the User would be able to perform following tasks :</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list of Books Available in the Library for Rent</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Details of a particular book</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the total amount to be paid by self</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personal info details</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Update personal info details</a:t>
            </a:r>
          </a:p>
          <a:p>
            <a:pPr>
              <a:lnSpc>
                <a:spcPts val="1800"/>
              </a:lnSpc>
              <a:spcBef>
                <a:spcPts val="1000"/>
              </a:spcBef>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4" name="Picture 3" descr="A close up of text on a white background&#10;&#10;Description automatically generated">
            <a:extLst>
              <a:ext uri="{FF2B5EF4-FFF2-40B4-BE49-F238E27FC236}">
                <a16:creationId xmlns:a16="http://schemas.microsoft.com/office/drawing/2014/main" id="{893D3AFA-96AC-4792-8F38-53925C7012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54044" y="137160"/>
            <a:ext cx="6165539" cy="6583680"/>
          </a:xfrm>
          <a:prstGeom prst="rect">
            <a:avLst/>
          </a:prstGeom>
        </p:spPr>
      </p:pic>
      <p:sp>
        <p:nvSpPr>
          <p:cNvPr id="6" name="Arrow: Right 5">
            <a:extLst>
              <a:ext uri="{FF2B5EF4-FFF2-40B4-BE49-F238E27FC236}">
                <a16:creationId xmlns:a16="http://schemas.microsoft.com/office/drawing/2014/main" id="{3A2702F6-16DC-433C-843F-A21EBCD6A858}"/>
              </a:ext>
            </a:extLst>
          </p:cNvPr>
          <p:cNvSpPr/>
          <p:nvPr/>
        </p:nvSpPr>
        <p:spPr>
          <a:xfrm>
            <a:off x="276110" y="1276484"/>
            <a:ext cx="245097" cy="1225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Solution</a:t>
            </a:r>
          </a:p>
        </p:txBody>
      </p:sp>
      <p:sp>
        <p:nvSpPr>
          <p:cNvPr id="5" name="Content Placeholder 4"/>
          <p:cNvSpPr>
            <a:spLocks noGrp="1"/>
          </p:cNvSpPr>
          <p:nvPr>
            <p:ph sz="half" idx="4294967295"/>
          </p:nvPr>
        </p:nvSpPr>
        <p:spPr>
          <a:xfrm>
            <a:off x="521207" y="1399032"/>
            <a:ext cx="5313985" cy="5010912"/>
          </a:xfrm>
        </p:spPr>
        <p:txBody>
          <a:bodyPr vert="horz" lIns="91440" tIns="45720" rIns="91440" bIns="45720" rtlCol="0">
            <a:normAutofit/>
          </a:bodyPr>
          <a:lstStyle/>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If Login ID starts with ‘L’, it would be considered that the User is using the system and login credentials are checked at the Librarians table in DB. </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Valid Librarian would be led to Librarian view page where the Librarian would be able to perform following tasks :</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list of Books Available in the Library for Rent</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View Details of a particular book</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Add a book</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Update book details</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Delete a book </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Issue a book and update details related to issuing of the book</a:t>
            </a:r>
          </a:p>
          <a:p>
            <a:pPr marL="457200" lvl="1">
              <a:lnSpc>
                <a:spcPts val="1800"/>
              </a:lnSpc>
              <a:spcAft>
                <a:spcPts val="600"/>
              </a:spcAft>
              <a:buFont typeface="+mj-lt"/>
              <a:buAutoNum type="alphaLcParenR"/>
            </a:pPr>
            <a:r>
              <a:rPr lang="en-US" dirty="0">
                <a:solidFill>
                  <a:prstClr val="black">
                    <a:lumMod val="75000"/>
                    <a:lumOff val="25000"/>
                  </a:prstClr>
                </a:solidFill>
                <a:latin typeface="Segoe UI" panose="020B0502040204020203" pitchFamily="34" charset="0"/>
                <a:cs typeface="Segoe UI" panose="020B0502040204020203" pitchFamily="34" charset="0"/>
              </a:rPr>
              <a:t>Accept the book from the user and update details in the system related to the date of return and amount paid</a:t>
            </a:r>
          </a:p>
          <a:p>
            <a:pPr>
              <a:lnSpc>
                <a:spcPts val="1800"/>
              </a:lnSpc>
              <a:spcBef>
                <a:spcPts val="1000"/>
              </a:spcBef>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Arrow: Right 5">
            <a:extLst>
              <a:ext uri="{FF2B5EF4-FFF2-40B4-BE49-F238E27FC236}">
                <a16:creationId xmlns:a16="http://schemas.microsoft.com/office/drawing/2014/main" id="{3A2702F6-16DC-433C-843F-A21EBCD6A858}"/>
              </a:ext>
            </a:extLst>
          </p:cNvPr>
          <p:cNvSpPr/>
          <p:nvPr/>
        </p:nvSpPr>
        <p:spPr>
          <a:xfrm>
            <a:off x="276110" y="1276484"/>
            <a:ext cx="245097" cy="1225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close up of a logo&#10;&#10;Description automatically generated">
            <a:extLst>
              <a:ext uri="{FF2B5EF4-FFF2-40B4-BE49-F238E27FC236}">
                <a16:creationId xmlns:a16="http://schemas.microsoft.com/office/drawing/2014/main" id="{53923CA6-B59B-4248-BA42-C42DB6DE4D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9522" y="193661"/>
            <a:ext cx="6570891" cy="6664340"/>
          </a:xfrm>
          <a:prstGeom prst="rect">
            <a:avLst/>
          </a:prstGeom>
        </p:spPr>
      </p:pic>
    </p:spTree>
    <p:extLst>
      <p:ext uri="{BB962C8B-B14F-4D97-AF65-F5344CB8AC3E}">
        <p14:creationId xmlns:p14="http://schemas.microsoft.com/office/powerpoint/2010/main" val="304696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Solution</a:t>
            </a:r>
          </a:p>
        </p:txBody>
      </p:sp>
      <p:sp>
        <p:nvSpPr>
          <p:cNvPr id="5" name="Content Placeholder 4"/>
          <p:cNvSpPr>
            <a:spLocks noGrp="1"/>
          </p:cNvSpPr>
          <p:nvPr>
            <p:ph sz="half" idx="4294967295"/>
          </p:nvPr>
        </p:nvSpPr>
        <p:spPr>
          <a:xfrm>
            <a:off x="521207" y="1383633"/>
            <a:ext cx="4795511" cy="5265718"/>
          </a:xfrm>
        </p:spPr>
        <p:txBody>
          <a:bodyPr vert="horz" lIns="91440" tIns="45720" rIns="91440" bIns="45720" rtlCol="0">
            <a:normAutofit/>
          </a:bodyPr>
          <a:lstStyle/>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Add a New User</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Update User details</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Delete a User</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Add another Librarian</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Update details of a Librarian</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Delete a Librarian</a:t>
            </a:r>
          </a:p>
          <a:p>
            <a:pPr marL="457200" lvl="1">
              <a:lnSpc>
                <a:spcPts val="1800"/>
              </a:lnSpc>
              <a:spcAft>
                <a:spcPts val="600"/>
              </a:spcAft>
              <a:buFont typeface="+mj-lt"/>
              <a:buAutoNum type="alphaLcParenR" startAt="8"/>
            </a:pPr>
            <a:r>
              <a:rPr lang="en-US" dirty="0">
                <a:solidFill>
                  <a:prstClr val="black">
                    <a:lumMod val="75000"/>
                    <a:lumOff val="25000"/>
                  </a:prstClr>
                </a:solidFill>
                <a:latin typeface="Segoe UI" panose="020B0502040204020203" pitchFamily="34" charset="0"/>
                <a:cs typeface="Segoe UI" panose="020B0502040204020203" pitchFamily="34" charset="0"/>
              </a:rPr>
              <a:t>View amount to be paid by the User including the fine applicable based on the calculations as mentioned below :</a:t>
            </a:r>
          </a:p>
          <a:p>
            <a:pPr lvl="1" indent="0">
              <a:lnSpc>
                <a:spcPts val="1800"/>
              </a:lnSpc>
              <a:spcAft>
                <a:spcPts val="6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If a book is rented out for more than 20 days, fine will be added to the user. The fine will be cumulative after every 5 days after that. </a:t>
            </a:r>
            <a:r>
              <a:rPr lang="en-US" dirty="0" err="1">
                <a:solidFill>
                  <a:prstClr val="black">
                    <a:lumMod val="75000"/>
                    <a:lumOff val="25000"/>
                  </a:prstClr>
                </a:solidFill>
                <a:latin typeface="Segoe UI" panose="020B0502040204020203" pitchFamily="34" charset="0"/>
                <a:cs typeface="Segoe UI" panose="020B0502040204020203" pitchFamily="34" charset="0"/>
              </a:rPr>
              <a:t>eg</a:t>
            </a:r>
            <a:r>
              <a:rPr lang="en-US" dirty="0">
                <a:solidFill>
                  <a:prstClr val="black">
                    <a:lumMod val="75000"/>
                    <a:lumOff val="25000"/>
                  </a:prstClr>
                </a:solidFill>
                <a:latin typeface="Segoe UI" panose="020B0502040204020203" pitchFamily="34" charset="0"/>
                <a:cs typeface="Segoe UI" panose="020B0502040204020203" pitchFamily="34" charset="0"/>
              </a:rPr>
              <a:t>: After 20 days, the fine will be Rs. 20, after 5 days, it will be 20+25, after another 5 days it will be 20+25+30.</a:t>
            </a:r>
          </a:p>
          <a:p>
            <a:pPr lvl="1" indent="0">
              <a:lnSpc>
                <a:spcPts val="1800"/>
              </a:lnSpc>
              <a:spcAft>
                <a:spcPts val="600"/>
              </a:spcAft>
              <a:buNone/>
            </a:pPr>
            <a:endParaRPr lang="en-US" dirty="0">
              <a:solidFill>
                <a:prstClr val="black">
                  <a:lumMod val="75000"/>
                  <a:lumOff val="25000"/>
                </a:prstClr>
              </a:solidFill>
              <a:latin typeface="Segoe UI" panose="020B0502040204020203" pitchFamily="34" charset="0"/>
              <a:cs typeface="Segoe UI" panose="020B0502040204020203" pitchFamily="34" charset="0"/>
            </a:endParaRPr>
          </a:p>
          <a:p>
            <a:pPr>
              <a:lnSpc>
                <a:spcPts val="1800"/>
              </a:lnSpc>
              <a:spcBef>
                <a:spcPts val="1000"/>
              </a:spcBef>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6" name="Arrow: Right 5">
            <a:extLst>
              <a:ext uri="{FF2B5EF4-FFF2-40B4-BE49-F238E27FC236}">
                <a16:creationId xmlns:a16="http://schemas.microsoft.com/office/drawing/2014/main" id="{3A2702F6-16DC-433C-843F-A21EBCD6A858}"/>
              </a:ext>
            </a:extLst>
          </p:cNvPr>
          <p:cNvSpPr/>
          <p:nvPr/>
        </p:nvSpPr>
        <p:spPr>
          <a:xfrm>
            <a:off x="276110" y="1276484"/>
            <a:ext cx="245097" cy="1225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close up of a logo&#10;&#10;Description automatically generated">
            <a:extLst>
              <a:ext uri="{FF2B5EF4-FFF2-40B4-BE49-F238E27FC236}">
                <a16:creationId xmlns:a16="http://schemas.microsoft.com/office/drawing/2014/main" id="{53923CA6-B59B-4248-BA42-C42DB6DE4D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9522" y="193661"/>
            <a:ext cx="6570891" cy="6664340"/>
          </a:xfrm>
          <a:prstGeom prst="rect">
            <a:avLst/>
          </a:prstGeom>
        </p:spPr>
      </p:pic>
    </p:spTree>
    <p:extLst>
      <p:ext uri="{BB962C8B-B14F-4D97-AF65-F5344CB8AC3E}">
        <p14:creationId xmlns:p14="http://schemas.microsoft.com/office/powerpoint/2010/main" val="326105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SQL Queries/Statements used</a:t>
            </a:r>
          </a:p>
        </p:txBody>
      </p:sp>
      <p:sp>
        <p:nvSpPr>
          <p:cNvPr id="5" name="Content Placeholder 4"/>
          <p:cNvSpPr>
            <a:spLocks noGrp="1"/>
          </p:cNvSpPr>
          <p:nvPr>
            <p:ph sz="half" idx="4294967295"/>
          </p:nvPr>
        </p:nvSpPr>
        <p:spPr>
          <a:xfrm>
            <a:off x="521207" y="1333355"/>
            <a:ext cx="6054499" cy="4790886"/>
          </a:xfrm>
        </p:spPr>
        <p:txBody>
          <a:bodyPr vert="horz" lIns="91440" tIns="45720" rIns="91440" bIns="45720" rtlCol="0">
            <a:normAutofit/>
          </a:bodyPr>
          <a:lstStyle/>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CREATE TABLE IF NOT EXISTS Users (</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user_ID</a:t>
            </a:r>
            <a:r>
              <a:rPr lang="en-US" dirty="0">
                <a:solidFill>
                  <a:prstClr val="black">
                    <a:lumMod val="75000"/>
                    <a:lumOff val="25000"/>
                  </a:prstClr>
                </a:solidFill>
                <a:latin typeface="Segoe UI" panose="020B0502040204020203" pitchFamily="34" charset="0"/>
                <a:cs typeface="Segoe UI" panose="020B0502040204020203" pitchFamily="34" charset="0"/>
              </a:rPr>
              <a:t>"		INTEGER </a:t>
            </a:r>
            <a:r>
              <a:rPr lang="en-US" b="1" dirty="0">
                <a:solidFill>
                  <a:prstClr val="black">
                    <a:lumMod val="75000"/>
                    <a:lumOff val="25000"/>
                  </a:prstClr>
                </a:solidFill>
                <a:latin typeface="Segoe UI" panose="020B0502040204020203" pitchFamily="34" charset="0"/>
                <a:cs typeface="Segoe UI" panose="020B0502040204020203" pitchFamily="34" charset="0"/>
              </a:rPr>
              <a:t>PRIMARY KEY </a:t>
            </a:r>
            <a:r>
              <a:rPr lang="en-US" dirty="0">
                <a:solidFill>
                  <a:prstClr val="black">
                    <a:lumMod val="75000"/>
                    <a:lumOff val="25000"/>
                  </a:prstClr>
                </a:solidFill>
                <a:latin typeface="Segoe UI" panose="020B0502040204020203" pitchFamily="34" charset="0"/>
                <a:cs typeface="Segoe UI" panose="020B0502040204020203" pitchFamily="34" charset="0"/>
              </a:rPr>
              <a:t>AUTOINCREMENT,</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user_RegnNum</a:t>
            </a:r>
            <a:r>
              <a:rPr lang="en-US" dirty="0">
                <a:solidFill>
                  <a:prstClr val="black">
                    <a:lumMod val="75000"/>
                    <a:lumOff val="25000"/>
                  </a:prstClr>
                </a:solidFill>
                <a:latin typeface="Segoe UI" panose="020B0502040204020203" pitchFamily="34" charset="0"/>
                <a:cs typeface="Segoe UI" panose="020B0502040204020203" pitchFamily="34" charset="0"/>
              </a:rPr>
              <a:t>“	NUMERIC NOT NULL UNIQUE,</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user_Password</a:t>
            </a:r>
            <a:r>
              <a:rPr lang="en-US" dirty="0">
                <a:solidFill>
                  <a:prstClr val="black">
                    <a:lumMod val="75000"/>
                    <a:lumOff val="25000"/>
                  </a:prstClr>
                </a:solidFill>
                <a:latin typeface="Segoe UI" panose="020B0502040204020203" pitchFamily="34" charset="0"/>
                <a:cs typeface="Segoe UI" panose="020B0502040204020203" pitchFamily="34" charset="0"/>
              </a:rPr>
              <a:t>"	TEXT NOT NULL,</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user_Name</a:t>
            </a:r>
            <a:r>
              <a:rPr lang="en-US" dirty="0">
                <a:solidFill>
                  <a:prstClr val="black">
                    <a:lumMod val="75000"/>
                    <a:lumOff val="25000"/>
                  </a:prstClr>
                </a:solidFill>
                <a:latin typeface="Segoe UI" panose="020B0502040204020203" pitchFamily="34" charset="0"/>
                <a:cs typeface="Segoe UI" panose="020B0502040204020203" pitchFamily="34" charset="0"/>
              </a:rPr>
              <a:t>"		TEXT NOT NULL,</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user_Address</a:t>
            </a:r>
            <a:r>
              <a:rPr lang="en-US" dirty="0">
                <a:solidFill>
                  <a:prstClr val="black">
                    <a:lumMod val="75000"/>
                    <a:lumOff val="25000"/>
                  </a:prstClr>
                </a:solidFill>
                <a:latin typeface="Segoe UI" panose="020B0502040204020203" pitchFamily="34" charset="0"/>
                <a:cs typeface="Segoe UI" panose="020B0502040204020203" pitchFamily="34" charset="0"/>
              </a:rPr>
              <a:t>"	TEXT NOT NULL,</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user_EMail</a:t>
            </a:r>
            <a:r>
              <a:rPr lang="en-US" dirty="0">
                <a:solidFill>
                  <a:prstClr val="black">
                    <a:lumMod val="75000"/>
                    <a:lumOff val="25000"/>
                  </a:prstClr>
                </a:solidFill>
                <a:latin typeface="Segoe UI" panose="020B0502040204020203" pitchFamily="34" charset="0"/>
                <a:cs typeface="Segoe UI" panose="020B0502040204020203" pitchFamily="34" charset="0"/>
              </a:rPr>
              <a:t>"		TEXT NOT NULL,</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r>
              <a:rPr lang="en-US" dirty="0" err="1">
                <a:solidFill>
                  <a:prstClr val="black">
                    <a:lumMod val="75000"/>
                    <a:lumOff val="25000"/>
                  </a:prstClr>
                </a:solidFill>
                <a:latin typeface="Segoe UI" panose="020B0502040204020203" pitchFamily="34" charset="0"/>
                <a:cs typeface="Segoe UI" panose="020B0502040204020203" pitchFamily="34" charset="0"/>
              </a:rPr>
              <a:t>user_Phone</a:t>
            </a:r>
            <a:r>
              <a:rPr lang="en-US" dirty="0">
                <a:solidFill>
                  <a:prstClr val="black">
                    <a:lumMod val="75000"/>
                    <a:lumOff val="25000"/>
                  </a:prstClr>
                </a:solidFill>
                <a:latin typeface="Segoe UI" panose="020B0502040204020203" pitchFamily="34" charset="0"/>
                <a:cs typeface="Segoe UI" panose="020B0502040204020203" pitchFamily="34" charset="0"/>
              </a:rPr>
              <a:t>"		TEXT NOT NULL</a:t>
            </a:r>
          </a:p>
          <a:p>
            <a:pPr>
              <a:lnSpc>
                <a:spcPts val="1800"/>
              </a:lnSpc>
              <a:spcAft>
                <a:spcPts val="600"/>
              </a:spcAft>
            </a:pPr>
            <a:r>
              <a:rPr lang="en-US" dirty="0">
                <a:solidFill>
                  <a:prstClr val="black">
                    <a:lumMod val="75000"/>
                    <a:lumOff val="25000"/>
                  </a:prstClr>
                </a:solidFill>
                <a:latin typeface="Segoe UI" panose="020B0502040204020203" pitchFamily="34" charset="0"/>
                <a:cs typeface="Segoe UI" panose="020B0502040204020203" pitchFamily="34" charset="0"/>
              </a:rPr>
              <a:t>);</a:t>
            </a:r>
          </a:p>
          <a:p>
            <a:pPr>
              <a:lnSpc>
                <a:spcPts val="1800"/>
              </a:lnSpc>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FB1CB29E-D6AB-424F-B10C-0A4C71361E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2266" y="241341"/>
            <a:ext cx="6686315" cy="6496809"/>
          </a:xfrm>
          <a:prstGeom prst="rect">
            <a:avLst/>
          </a:prstGeom>
        </p:spPr>
      </p:pic>
    </p:spTree>
    <p:extLst>
      <p:ext uri="{BB962C8B-B14F-4D97-AF65-F5344CB8AC3E}">
        <p14:creationId xmlns:p14="http://schemas.microsoft.com/office/powerpoint/2010/main" val="3769790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Description automatically generated">
            <a:extLst>
              <a:ext uri="{FF2B5EF4-FFF2-40B4-BE49-F238E27FC236}">
                <a16:creationId xmlns:a16="http://schemas.microsoft.com/office/drawing/2014/main" id="{DE217BDB-FEC1-444C-BE5A-8A0BA8D6D794}"/>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219210" y="237049"/>
            <a:ext cx="6693298" cy="6503595"/>
          </a:xfrm>
        </p:spPr>
      </p:pic>
    </p:spTree>
    <p:extLst>
      <p:ext uri="{BB962C8B-B14F-4D97-AF65-F5344CB8AC3E}">
        <p14:creationId xmlns:p14="http://schemas.microsoft.com/office/powerpoint/2010/main" val="424486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Key Assumptions made in the project</a:t>
            </a:r>
          </a:p>
        </p:txBody>
      </p:sp>
      <p:graphicFrame>
        <p:nvGraphicFramePr>
          <p:cNvPr id="6" name="Content Placeholder 5">
            <a:extLst>
              <a:ext uri="{FF2B5EF4-FFF2-40B4-BE49-F238E27FC236}">
                <a16:creationId xmlns:a16="http://schemas.microsoft.com/office/drawing/2014/main" id="{C7339D1B-3B6F-499E-8B14-963C47078173}"/>
              </a:ext>
            </a:extLst>
          </p:cNvPr>
          <p:cNvGraphicFramePr>
            <a:graphicFrameLocks noGrp="1"/>
          </p:cNvGraphicFramePr>
          <p:nvPr>
            <p:ph sz="half" idx="4294967295"/>
            <p:extLst>
              <p:ext uri="{D42A27DB-BD31-4B8C-83A1-F6EECF244321}">
                <p14:modId xmlns:p14="http://schemas.microsoft.com/office/powerpoint/2010/main" val="2668061717"/>
              </p:ext>
            </p:extLst>
          </p:nvPr>
        </p:nvGraphicFramePr>
        <p:xfrm>
          <a:off x="521206" y="1251751"/>
          <a:ext cx="7450942" cy="53088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9949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Some Key Assumptions made in the project</a:t>
            </a:r>
          </a:p>
        </p:txBody>
      </p:sp>
      <p:graphicFrame>
        <p:nvGraphicFramePr>
          <p:cNvPr id="6" name="Content Placeholder 5">
            <a:extLst>
              <a:ext uri="{FF2B5EF4-FFF2-40B4-BE49-F238E27FC236}">
                <a16:creationId xmlns:a16="http://schemas.microsoft.com/office/drawing/2014/main" id="{C7339D1B-3B6F-499E-8B14-963C47078173}"/>
              </a:ext>
            </a:extLst>
          </p:cNvPr>
          <p:cNvGraphicFramePr>
            <a:graphicFrameLocks noGrp="1"/>
          </p:cNvGraphicFramePr>
          <p:nvPr>
            <p:ph sz="half" idx="4294967295"/>
            <p:extLst>
              <p:ext uri="{D42A27DB-BD31-4B8C-83A1-F6EECF244321}">
                <p14:modId xmlns:p14="http://schemas.microsoft.com/office/powerpoint/2010/main" val="717938870"/>
              </p:ext>
            </p:extLst>
          </p:nvPr>
        </p:nvGraphicFramePr>
        <p:xfrm>
          <a:off x="627739" y="768096"/>
          <a:ext cx="9164332" cy="6285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7147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93511-1430-439A-B329-C7638B3B57A6}"/>
              </a:ext>
            </a:extLst>
          </p:cNvPr>
          <p:cNvSpPr>
            <a:spLocks noGrp="1"/>
          </p:cNvSpPr>
          <p:nvPr>
            <p:ph type="title"/>
          </p:nvPr>
        </p:nvSpPr>
        <p:spPr/>
        <p:txBody>
          <a:bodyPr/>
          <a:lstStyle/>
          <a:p>
            <a:r>
              <a:rPr lang="en-IN" dirty="0"/>
              <a:t>Triggers</a:t>
            </a:r>
          </a:p>
        </p:txBody>
      </p:sp>
      <p:sp>
        <p:nvSpPr>
          <p:cNvPr id="4" name="TextBox 3">
            <a:extLst>
              <a:ext uri="{FF2B5EF4-FFF2-40B4-BE49-F238E27FC236}">
                <a16:creationId xmlns:a16="http://schemas.microsoft.com/office/drawing/2014/main" id="{E7235FDA-1C13-48EE-982A-D4885A0F7A20}"/>
              </a:ext>
            </a:extLst>
          </p:cNvPr>
          <p:cNvSpPr txBox="1"/>
          <p:nvPr/>
        </p:nvSpPr>
        <p:spPr>
          <a:xfrm>
            <a:off x="1331650" y="1630917"/>
            <a:ext cx="10227076" cy="203132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r>
              <a:rPr lang="en-IN" sz="1400" dirty="0"/>
              <a:t>/***</a:t>
            </a:r>
          </a:p>
          <a:p>
            <a:endParaRPr lang="en-IN" sz="1400" dirty="0"/>
          </a:p>
          <a:p>
            <a:r>
              <a:rPr lang="en-IN" sz="1400" dirty="0"/>
              <a:t>CREATE TRIGGER on_delete_set_default_Librarian AFTER DELETE ON Librarians BEGIN</a:t>
            </a:r>
          </a:p>
          <a:p>
            <a:r>
              <a:rPr lang="en-IN" sz="1400" dirty="0"/>
              <a:t>  UPDATE Books SET issued_By = (SELECT min(librn_RegnNum) FROM Librarians) WHERE issued_By = old.librn_RegnNum;</a:t>
            </a:r>
          </a:p>
          <a:p>
            <a:r>
              <a:rPr lang="en-IN" sz="1400" dirty="0"/>
              <a:t>END;</a:t>
            </a:r>
          </a:p>
          <a:p>
            <a:endParaRPr lang="en-IN" sz="1400" dirty="0"/>
          </a:p>
          <a:p>
            <a:r>
              <a:rPr lang="en-IN" sz="1400" dirty="0"/>
              <a:t>DROP TRIGGER on_delete_set_default_Librarian;</a:t>
            </a:r>
          </a:p>
          <a:p>
            <a:endParaRPr lang="en-IN" sz="1400" dirty="0"/>
          </a:p>
          <a:p>
            <a:r>
              <a:rPr lang="en-IN" sz="1400" dirty="0"/>
              <a:t>***/</a:t>
            </a:r>
          </a:p>
        </p:txBody>
      </p:sp>
      <p:sp>
        <p:nvSpPr>
          <p:cNvPr id="7" name="Arrow: Right 6">
            <a:extLst>
              <a:ext uri="{FF2B5EF4-FFF2-40B4-BE49-F238E27FC236}">
                <a16:creationId xmlns:a16="http://schemas.microsoft.com/office/drawing/2014/main" id="{6C2E4096-C1E5-4A0D-9315-8C7E261E10CB}"/>
              </a:ext>
            </a:extLst>
          </p:cNvPr>
          <p:cNvSpPr/>
          <p:nvPr/>
        </p:nvSpPr>
        <p:spPr>
          <a:xfrm>
            <a:off x="701336" y="1713390"/>
            <a:ext cx="470516" cy="186431"/>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0C1DAE3-5BF2-4BF9-ADEA-23BF2971632A}"/>
              </a:ext>
            </a:extLst>
          </p:cNvPr>
          <p:cNvSpPr txBox="1"/>
          <p:nvPr/>
        </p:nvSpPr>
        <p:spPr>
          <a:xfrm>
            <a:off x="1331650" y="4145872"/>
            <a:ext cx="10227075" cy="584775"/>
          </a:xfrm>
          <a:prstGeom prst="rect">
            <a:avLst/>
          </a:prstGeom>
          <a:noFill/>
        </p:spPr>
        <p:txBody>
          <a:bodyPr wrap="square" rtlCol="0">
            <a:spAutoFit/>
          </a:bodyPr>
          <a:lstStyle/>
          <a:p>
            <a:r>
              <a:rPr lang="en-IN" sz="1600" dirty="0"/>
              <a:t>If in case a Librarian is deleted from the system, then this trigger would consider the last librarian in the list of librarians and update the record in Books table.</a:t>
            </a:r>
          </a:p>
        </p:txBody>
      </p:sp>
    </p:spTree>
    <p:extLst>
      <p:ext uri="{BB962C8B-B14F-4D97-AF65-F5344CB8AC3E}">
        <p14:creationId xmlns:p14="http://schemas.microsoft.com/office/powerpoint/2010/main" val="3090998871"/>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A670225-786D-4D35-95D2-EE23BCCC822D}" vid="{047B070F-071F-4F7E-B21E-00157DBF8D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0B3179-FCE1-482B-B473-8B7BB6F9AC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ED6A94-6CEC-4690-B5D0-3E831BCC769C}">
  <ds:schemaRefs>
    <ds:schemaRef ds:uri="http://www.w3.org/XML/1998/namespace"/>
    <ds:schemaRef ds:uri="http://schemas.microsoft.com/office/2006/documentManagement/types"/>
    <ds:schemaRef ds:uri="71af3243-3dd4-4a8d-8c0d-dd76da1f02a5"/>
    <ds:schemaRef ds:uri="http://purl.org/dc/elements/1.1/"/>
    <ds:schemaRef ds:uri="16c05727-aa75-4e4a-9b5f-8a80a1165891"/>
    <ds:schemaRef ds:uri="http://purl.org/dc/dcmitype/"/>
    <ds:schemaRef ds:uri="http://purl.org/dc/terms/"/>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A68F36FF-D6F8-4F25-B1D6-7893F2294B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0</TotalTime>
  <Words>1416</Words>
  <Application>Microsoft Office PowerPoint</Application>
  <PresentationFormat>Widescreen</PresentationFormat>
  <Paragraphs>150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Segoe UI</vt:lpstr>
      <vt:lpstr>Segoe UI Light</vt:lpstr>
      <vt:lpstr>Segoe UI Semibold</vt:lpstr>
      <vt:lpstr>WelcomeDoc</vt:lpstr>
      <vt:lpstr>Terminal Library Management</vt:lpstr>
      <vt:lpstr>Requirement Specification </vt:lpstr>
      <vt:lpstr>Requirement Specification </vt:lpstr>
      <vt:lpstr>Entities : Book</vt:lpstr>
      <vt:lpstr>Recording the Transaction History</vt:lpstr>
      <vt:lpstr>Activities of a Librarian</vt:lpstr>
      <vt:lpstr>Activities of a Librarian</vt:lpstr>
      <vt:lpstr>Solution</vt:lpstr>
      <vt:lpstr>Solution</vt:lpstr>
      <vt:lpstr>Solution</vt:lpstr>
      <vt:lpstr>SQL Queries/Statements used</vt:lpstr>
      <vt:lpstr>PowerPoint Presentation</vt:lpstr>
      <vt:lpstr>Key Assumptions made in the project</vt:lpstr>
      <vt:lpstr>Some Key Assumptions made in the project</vt:lpstr>
      <vt:lpstr>Triggers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2019-08-28T19:37:38Z</dcterms:created>
  <dcterms:modified xsi:type="dcterms:W3CDTF">2019-09-12T08:04:36Z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